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0923" autoAdjust="0"/>
  </p:normalViewPr>
  <p:slideViewPr>
    <p:cSldViewPr snapToGrid="0" snapToObjects="1">
      <p:cViewPr>
        <p:scale>
          <a:sx n="75" d="100"/>
          <a:sy n="75" d="100"/>
        </p:scale>
        <p:origin x="630" y="-696"/>
      </p:cViewPr>
      <p:guideLst/>
    </p:cSldViewPr>
  </p:slideViewPr>
  <p:notesTextViewPr>
    <p:cViewPr>
      <p:scale>
        <a:sx n="1" d="1"/>
        <a:sy n="1" d="1"/>
      </p:scale>
      <p:origin x="0" y="-261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6770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Headline numbers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**Automation processes transitioned**</a:t>
            </a:r>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**24 Ansible playbooks / job templates → 16 Orchestrator workflows**</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**Net-new capability delivered**</a:t>
            </a:r>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**1**</a:t>
            </a:r>
            <a:r>
              <a:rPr lang="en-US" sz="1200" b="0" kern="1200" dirty="0">
                <a:solidFill>
                  <a:schemeClr val="tx1"/>
                </a:solidFill>
                <a:effectLst/>
                <a:latin typeface="+mn-lt"/>
                <a:ea typeface="+mn-ea"/>
                <a:cs typeface="+mn-cs"/>
              </a:rPr>
              <a:t> — a self-service VM provisioning catalog (4 catalog items)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**Shared PowerShell toolbox**</a:t>
            </a:r>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**24 hardening changes**</a:t>
            </a:r>
            <a:r>
              <a:rPr lang="en-US" sz="1200" b="0" kern="1200" dirty="0">
                <a:solidFill>
                  <a:schemeClr val="tx1"/>
                </a:solidFill>
                <a:effectLst/>
                <a:latin typeface="+mn-lt"/>
                <a:ea typeface="+mn-ea"/>
                <a:cs typeface="+mn-cs"/>
              </a:rPr>
              <a:t> (S-1 … S-24)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**Pre-existing defects found and fixed**</a:t>
            </a:r>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**At least 15**</a:t>
            </a:r>
            <a:r>
              <a:rPr lang="en-US" sz="1200" b="0" kern="1200" dirty="0">
                <a:solidFill>
                  <a:schemeClr val="tx1"/>
                </a:solidFill>
                <a:effectLst/>
                <a:latin typeface="+mn-lt"/>
                <a:ea typeface="+mn-ea"/>
                <a:cs typeface="+mn-cs"/>
              </a:rPr>
              <a:t>, all silent — every one of them reported success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**Divergent script copies eliminated**</a:t>
            </a:r>
            <a:r>
              <a:rPr lang="en-US" sz="1200" b="0" kern="1200" dirty="0">
                <a:solidFill>
                  <a:schemeClr val="tx1"/>
                </a:solidFill>
                <a:effectLst/>
                <a:latin typeface="+mn-lt"/>
                <a:ea typeface="+mn-ea"/>
                <a:cs typeface="+mn-cs"/>
              </a:rPr>
              <a:t> | A forked second copy of the shared toolbox merged back and retired |</a:t>
            </a: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The two workstreams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 Workstream | Nature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a:t>
            </a:r>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**Ansible → VCF Orchestrator transition**</a:t>
            </a:r>
            <a:r>
              <a:rPr lang="en-US" sz="1200" b="0" kern="1200" dirty="0">
                <a:solidFill>
                  <a:schemeClr val="tx1"/>
                </a:solidFill>
                <a:effectLst/>
                <a:latin typeface="+mn-lt"/>
                <a:ea typeface="+mn-ea"/>
                <a:cs typeface="+mn-cs"/>
              </a:rPr>
              <a:t> | Migrating the customer's existing automation off Ansible — and hardening it on the way through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a:t>
            </a:r>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**VM Deployment Automation**</a:t>
            </a:r>
            <a:r>
              <a:rPr lang="en-US" sz="1200" b="0" kern="1200" dirty="0">
                <a:solidFill>
                  <a:schemeClr val="tx1"/>
                </a:solidFill>
                <a:effectLst/>
                <a:latin typeface="+mn-lt"/>
                <a:ea typeface="+mn-ea"/>
                <a:cs typeface="+mn-cs"/>
              </a:rPr>
              <a:t> | Net-new self-service VM provisioning and guest customization on VCF 9.1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What was delivered, by project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 | Project | Was | Is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1 | </a:t>
            </a:r>
            <a:r>
              <a:rPr lang="en-US" sz="1200" b="1" kern="1200" dirty="0">
                <a:solidFill>
                  <a:schemeClr val="tx1"/>
                </a:solidFill>
                <a:effectLst/>
                <a:latin typeface="+mn-lt"/>
                <a:ea typeface="+mn-ea"/>
                <a:cs typeface="+mn-cs"/>
              </a:rPr>
              <a:t>**Self-Service VM Provisioning**</a:t>
            </a:r>
            <a:r>
              <a:rPr lang="en-US" sz="1200" b="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*nothing — manual ticket-driven builds*</a:t>
            </a:r>
            <a:r>
              <a:rPr lang="en-US" sz="1200" b="0" kern="1200" dirty="0">
                <a:solidFill>
                  <a:schemeClr val="tx1"/>
                </a:solidFill>
                <a:effectLst/>
                <a:latin typeface="+mn-lt"/>
                <a:ea typeface="+mn-ea"/>
                <a:cs typeface="+mn-cs"/>
              </a:rPr>
              <a:t> | Self-service catalog, 4 items </a:t>
            </a:r>
            <a:r>
              <a:rPr lang="en-US" sz="1200" b="1" kern="1200" dirty="0">
                <a:solidFill>
                  <a:schemeClr val="tx1"/>
                </a:solidFill>
                <a:effectLst/>
                <a:latin typeface="+mn-lt"/>
                <a:ea typeface="+mn-ea"/>
                <a:cs typeface="+mn-cs"/>
              </a:rPr>
              <a:t>**(net-new)**</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2 | </a:t>
            </a:r>
            <a:r>
              <a:rPr lang="en-US" sz="1200" b="1" kern="1200" dirty="0">
                <a:solidFill>
                  <a:schemeClr val="tx1"/>
                </a:solidFill>
                <a:effectLst/>
                <a:latin typeface="+mn-lt"/>
                <a:ea typeface="+mn-ea"/>
                <a:cs typeface="+mn-cs"/>
              </a:rPr>
              <a:t>**Server Reboot Report**</a:t>
            </a:r>
            <a:r>
              <a:rPr lang="en-US" sz="1200" b="0" kern="1200" dirty="0">
                <a:solidFill>
                  <a:schemeClr val="tx1"/>
                </a:solidFill>
                <a:effectLst/>
                <a:latin typeface="+mn-lt"/>
                <a:ea typeface="+mn-ea"/>
                <a:cs typeface="+mn-cs"/>
              </a:rPr>
              <a:t> | 2 Ansible report playbooks | 1 read-only workflow |</a:t>
            </a:r>
          </a:p>
          <a:p>
            <a:r>
              <a:rPr lang="en-US" sz="1200" b="0" kern="1200" dirty="0">
                <a:solidFill>
                  <a:schemeClr val="tx1"/>
                </a:solidFill>
                <a:effectLst/>
                <a:latin typeface="+mn-lt"/>
                <a:ea typeface="+mn-ea"/>
                <a:cs typeface="+mn-cs"/>
              </a:rPr>
              <a:t>| 3 | </a:t>
            </a:r>
            <a:r>
              <a:rPr lang="en-US" sz="1200" b="1" kern="1200" dirty="0">
                <a:solidFill>
                  <a:schemeClr val="tx1"/>
                </a:solidFill>
                <a:effectLst/>
                <a:latin typeface="+mn-lt"/>
                <a:ea typeface="+mn-ea"/>
                <a:cs typeface="+mn-cs"/>
              </a:rPr>
              <a:t>**Admin Accounts (PKI) Report**</a:t>
            </a:r>
            <a:r>
              <a:rPr lang="en-US" sz="1200" b="0" kern="1200" dirty="0">
                <a:solidFill>
                  <a:schemeClr val="tx1"/>
                </a:solidFill>
                <a:effectLst/>
                <a:latin typeface="+mn-lt"/>
                <a:ea typeface="+mn-ea"/>
                <a:cs typeface="+mn-cs"/>
              </a:rPr>
              <a:t> | 3 job templates, 2 of them on a forked script | 1 workflow, one shared script |</a:t>
            </a:r>
          </a:p>
          <a:p>
            <a:r>
              <a:rPr lang="en-US" sz="1200" b="0" kern="1200" dirty="0">
                <a:solidFill>
                  <a:schemeClr val="tx1"/>
                </a:solidFill>
                <a:effectLst/>
                <a:latin typeface="+mn-lt"/>
                <a:ea typeface="+mn-ea"/>
                <a:cs typeface="+mn-cs"/>
              </a:rPr>
              <a:t>| 4 | </a:t>
            </a:r>
            <a:r>
              <a:rPr lang="en-US" sz="1200" b="1" kern="1200" dirty="0">
                <a:solidFill>
                  <a:schemeClr val="tx1"/>
                </a:solidFill>
                <a:effectLst/>
                <a:latin typeface="+mn-lt"/>
                <a:ea typeface="+mn-ea"/>
                <a:cs typeface="+mn-cs"/>
              </a:rPr>
              <a:t>**Service Account Expiration Report**</a:t>
            </a:r>
            <a:r>
              <a:rPr lang="en-US" sz="1200" b="0" kern="1200" dirty="0">
                <a:solidFill>
                  <a:schemeClr val="tx1"/>
                </a:solidFill>
                <a:effectLst/>
                <a:latin typeface="+mn-lt"/>
                <a:ea typeface="+mn-ea"/>
                <a:cs typeface="+mn-cs"/>
              </a:rPr>
              <a:t> | 1 job template | 1 workflow </a:t>
            </a:r>
            <a:r>
              <a:rPr lang="en-US" sz="1200" b="0" i="1" kern="1200" dirty="0">
                <a:solidFill>
                  <a:schemeClr val="tx1"/>
                </a:solidFill>
                <a:effectLst/>
                <a:latin typeface="+mn-lt"/>
                <a:ea typeface="+mn-ea"/>
                <a:cs typeface="+mn-cs"/>
              </a:rPr>
              <a:t>*(in progress)*</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5 | </a:t>
            </a:r>
            <a:r>
              <a:rPr lang="en-US" sz="1200" b="1" kern="1200" dirty="0">
                <a:solidFill>
                  <a:schemeClr val="tx1"/>
                </a:solidFill>
                <a:effectLst/>
                <a:latin typeface="+mn-lt"/>
                <a:ea typeface="+mn-ea"/>
                <a:cs typeface="+mn-cs"/>
              </a:rPr>
              <a:t>**Move Windows Event Logs**</a:t>
            </a:r>
            <a:r>
              <a:rPr lang="en-US" sz="1200" b="0" kern="1200" dirty="0">
                <a:solidFill>
                  <a:schemeClr val="tx1"/>
                </a:solidFill>
                <a:effectLst/>
                <a:latin typeface="+mn-lt"/>
                <a:ea typeface="+mn-ea"/>
                <a:cs typeface="+mn-cs"/>
              </a:rPr>
              <a:t> | 7 playbooks | 2 workflows |</a:t>
            </a:r>
          </a:p>
          <a:p>
            <a:r>
              <a:rPr lang="en-US" sz="1200" b="0" kern="1200" dirty="0">
                <a:solidFill>
                  <a:schemeClr val="tx1"/>
                </a:solidFill>
                <a:effectLst/>
                <a:latin typeface="+mn-lt"/>
                <a:ea typeface="+mn-ea"/>
                <a:cs typeface="+mn-cs"/>
              </a:rPr>
              <a:t>| 6 | </a:t>
            </a:r>
            <a:r>
              <a:rPr lang="en-US" sz="1200" b="1" kern="1200" dirty="0">
                <a:solidFill>
                  <a:schemeClr val="tx1"/>
                </a:solidFill>
                <a:effectLst/>
                <a:latin typeface="+mn-lt"/>
                <a:ea typeface="+mn-ea"/>
                <a:cs typeface="+mn-cs"/>
              </a:rPr>
              <a:t>**Windows Server Clean Disks**</a:t>
            </a:r>
            <a:r>
              <a:rPr lang="en-US" sz="1200" b="0" kern="1200" dirty="0">
                <a:solidFill>
                  <a:schemeClr val="tx1"/>
                </a:solidFill>
                <a:effectLst/>
                <a:latin typeface="+mn-lt"/>
                <a:ea typeface="+mn-ea"/>
                <a:cs typeface="+mn-cs"/>
              </a:rPr>
              <a:t> | 8 job templates | 1 workflow |</a:t>
            </a:r>
          </a:p>
          <a:p>
            <a:r>
              <a:rPr lang="en-US" sz="1200" b="0" kern="1200" dirty="0">
                <a:solidFill>
                  <a:schemeClr val="tx1"/>
                </a:solidFill>
                <a:effectLst/>
                <a:latin typeface="+mn-lt"/>
                <a:ea typeface="+mn-ea"/>
                <a:cs typeface="+mn-cs"/>
              </a:rPr>
              <a:t>| 7 | </a:t>
            </a:r>
            <a:r>
              <a:rPr lang="en-US" sz="1200" b="1" kern="1200" dirty="0">
                <a:solidFill>
                  <a:schemeClr val="tx1"/>
                </a:solidFill>
                <a:effectLst/>
                <a:latin typeface="+mn-lt"/>
                <a:ea typeface="+mn-ea"/>
                <a:cs typeface="+mn-cs"/>
              </a:rPr>
              <a:t>**Server Reboots**</a:t>
            </a:r>
            <a:r>
              <a:rPr lang="en-US" sz="1200" b="0" kern="1200" dirty="0">
                <a:solidFill>
                  <a:schemeClr val="tx1"/>
                </a:solidFill>
                <a:effectLst/>
                <a:latin typeface="+mn-lt"/>
                <a:ea typeface="+mn-ea"/>
                <a:cs typeface="+mn-cs"/>
              </a:rPr>
              <a:t> | 1 playbook | 1 workflow |</a:t>
            </a:r>
          </a:p>
          <a:p>
            <a:endParaRPr lang="en-US" dirty="0"/>
          </a:p>
          <a:p>
            <a:r>
              <a:rPr lang="en-US" sz="1200" b="1" kern="1200" dirty="0">
                <a:solidFill>
                  <a:schemeClr val="tx1"/>
                </a:solidFill>
                <a:effectLst/>
                <a:latin typeface="+mn-lt"/>
                <a:ea typeface="+mn-ea"/>
                <a:cs typeface="+mn-cs"/>
              </a:rPr>
              <a:t>## The three messages worth making up front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This was not a lift-and-shift.**</a:t>
            </a:r>
            <a:r>
              <a:rPr lang="en-US" sz="1200" b="0" kern="1200" dirty="0">
                <a:solidFill>
                  <a:schemeClr val="tx1"/>
                </a:solidFill>
                <a:effectLst/>
                <a:latin typeface="+mn-lt"/>
                <a:ea typeface="+mn-ea"/>
                <a:cs typeface="+mn-cs"/>
              </a:rPr>
              <a:t> Every process was migrated </a:t>
            </a:r>
            <a:r>
              <a:rPr lang="en-US" sz="1200" b="0" i="1" kern="1200" dirty="0">
                <a:solidFill>
                  <a:schemeClr val="tx1"/>
                </a:solidFill>
                <a:effectLst/>
                <a:latin typeface="+mn-lt"/>
                <a:ea typeface="+mn-ea"/>
                <a:cs typeface="+mn-cs"/>
              </a:rPr>
              <a:t>*and*</a:t>
            </a:r>
            <a:r>
              <a:rPr lang="en-US" sz="1200" b="0" kern="1200" dirty="0">
                <a:solidFill>
                  <a:schemeClr val="tx1"/>
                </a:solidFill>
                <a:effectLst/>
                <a:latin typeface="+mn-lt"/>
                <a:ea typeface="+mn-ea"/>
                <a:cs typeface="+mn-cs"/>
              </a:rPr>
              <a:t> hardened. The</a:t>
            </a:r>
          </a:p>
          <a:p>
            <a:r>
              <a:rPr lang="en-US" sz="1200" b="0" kern="1200" dirty="0">
                <a:solidFill>
                  <a:schemeClr val="tx1"/>
                </a:solidFill>
                <a:effectLst/>
                <a:latin typeface="+mn-lt"/>
                <a:ea typeface="+mn-ea"/>
                <a:cs typeface="+mn-cs"/>
              </a:rPr>
              <a:t>transition surfaced at least 15 pre-existing defects in automation that is running in</a:t>
            </a:r>
          </a:p>
          <a:p>
            <a:r>
              <a:rPr lang="en-US" sz="1200" b="0" kern="1200" dirty="0">
                <a:solidFill>
                  <a:schemeClr val="tx1"/>
                </a:solidFill>
                <a:effectLst/>
                <a:latin typeface="+mn-lt"/>
                <a:ea typeface="+mn-ea"/>
                <a:cs typeface="+mn-cs"/>
              </a:rPr>
              <a:t>production today — and they share a single failure mode: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&gt; **A non-terminating error, an omitted parameter, or a missing column removes content or</a:t>
            </a:r>
          </a:p>
          <a:p>
            <a:r>
              <a:rPr lang="en-US" sz="1200" b="0" kern="1200" dirty="0">
                <a:solidFill>
                  <a:schemeClr val="tx1"/>
                </a:solidFill>
                <a:effectLst/>
                <a:latin typeface="+mn-lt"/>
                <a:ea typeface="+mn-ea"/>
                <a:cs typeface="+mn-cs"/>
              </a:rPr>
              <a:t>&gt; skips work — and the run still reports success.**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Concretely: servers were being force-rebooted when their state </a:t>
            </a:r>
            <a:r>
              <a:rPr lang="en-US" sz="1200" b="0" i="1" kern="1200" dirty="0">
                <a:solidFill>
                  <a:schemeClr val="tx1"/>
                </a:solidFill>
                <a:effectLst/>
                <a:latin typeface="+mn-lt"/>
                <a:ea typeface="+mn-ea"/>
                <a:cs typeface="+mn-cs"/>
              </a:rPr>
              <a:t>*could not be read*</a:t>
            </a:r>
            <a:r>
              <a:rPr lang="en-US" sz="1200" b="0" kern="1200" dirty="0">
                <a:solidFill>
                  <a:schemeClr val="tx1"/>
                </a:solidFill>
                <a:effectLst/>
                <a:latin typeface="+mn-lt"/>
                <a:ea typeface="+mn-ea"/>
                <a:cs typeface="+mn-cs"/>
              </a:rPr>
              <a:t>; failed</a:t>
            </a:r>
          </a:p>
          <a:p>
            <a:r>
              <a:rPr lang="en-US" sz="1200" b="0" kern="1200" dirty="0">
                <a:solidFill>
                  <a:schemeClr val="tx1"/>
                </a:solidFill>
                <a:effectLst/>
                <a:latin typeface="+mn-lt"/>
                <a:ea typeface="+mn-ea"/>
                <a:cs typeface="+mn-cs"/>
              </a:rPr>
              <a:t>reboots looked identical to successful ones; an unreadable OU in a compliance report looked</a:t>
            </a:r>
          </a:p>
          <a:p>
            <a:r>
              <a:rPr lang="en-US" sz="1200" b="0" kern="1200" dirty="0">
                <a:solidFill>
                  <a:schemeClr val="tx1"/>
                </a:solidFill>
                <a:effectLst/>
                <a:latin typeface="+mn-lt"/>
                <a:ea typeface="+mn-ea"/>
                <a:cs typeface="+mn-cs"/>
              </a:rPr>
              <a:t>exactly like a compliant one; and a report titled </a:t>
            </a:r>
            <a:r>
              <a:rPr lang="en-US" sz="1200" b="0" i="1" kern="1200" dirty="0">
                <a:solidFill>
                  <a:schemeClr val="tx1"/>
                </a:solidFill>
                <a:effectLst/>
                <a:latin typeface="+mn-lt"/>
                <a:ea typeface="+mn-ea"/>
                <a:cs typeface="+mn-cs"/>
              </a:rPr>
              <a:t>*"Service Account Expiration"*</a:t>
            </a:r>
            <a:r>
              <a:rPr lang="en-US" sz="1200" b="0" kern="1200" dirty="0">
                <a:solidFill>
                  <a:schemeClr val="tx1"/>
                </a:solidFill>
                <a:effectLst/>
                <a:latin typeface="+mn-lt"/>
                <a:ea typeface="+mn-ea"/>
                <a:cs typeface="+mn-cs"/>
              </a:rPr>
              <a:t> never</a:t>
            </a:r>
          </a:p>
          <a:p>
            <a:r>
              <a:rPr lang="en-US" sz="1200" b="0" kern="1200" dirty="0">
                <a:solidFill>
                  <a:schemeClr val="tx1"/>
                </a:solidFill>
                <a:effectLst/>
                <a:latin typeface="+mn-lt"/>
                <a:ea typeface="+mn-ea"/>
                <a:cs typeface="+mn-cs"/>
              </a:rPr>
              <a:t>rendered an expiration date.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Everything is now visible.**</a:t>
            </a:r>
            <a:r>
              <a:rPr lang="en-US" sz="1200" b="0" kern="1200" dirty="0">
                <a:solidFill>
                  <a:schemeClr val="tx1"/>
                </a:solidFill>
                <a:effectLst/>
                <a:latin typeface="+mn-lt"/>
                <a:ea typeface="+mn-ea"/>
                <a:cs typeface="+mn-cs"/>
              </a:rPr>
              <a:t> Each of those becomes a classified error line, a</a:t>
            </a:r>
          </a:p>
          <a:p>
            <a:r>
              <a:rPr lang="en-US" sz="1200" b="0" kern="1200" dirty="0">
                <a:solidFill>
                  <a:schemeClr val="tx1"/>
                </a:solidFill>
                <a:effectLst/>
                <a:latin typeface="+mn-lt"/>
                <a:ea typeface="+mn-ea"/>
                <a:cs typeface="+mn-cs"/>
              </a:rPr>
              <a:t>structured end state, a flag on the emailed report, or a run that fails outright and says</a:t>
            </a:r>
          </a:p>
          <a:p>
            <a:r>
              <a:rPr lang="en-US" sz="1200" b="0" kern="1200" dirty="0">
                <a:solidFill>
                  <a:schemeClr val="tx1"/>
                </a:solidFill>
                <a:effectLst/>
                <a:latin typeface="+mn-lt"/>
                <a:ea typeface="+mn-ea"/>
                <a:cs typeface="+mn-cs"/>
              </a:rPr>
              <a:t>what was missing. The common platform gives every workflow the same failure vocabulary.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 The work compounds.**</a:t>
            </a:r>
            <a:r>
              <a:rPr lang="en-US" sz="1200" b="0" kern="1200" dirty="0">
                <a:solidFill>
                  <a:schemeClr val="tx1"/>
                </a:solidFill>
                <a:effectLst/>
                <a:latin typeface="+mn-lt"/>
                <a:ea typeface="+mn-ea"/>
                <a:cs typeface="+mn-cs"/>
              </a:rPr>
              <a:t> The deliverables share a toolbox, a script-invocation contract,</a:t>
            </a:r>
          </a:p>
          <a:p>
            <a:r>
              <a:rPr lang="en-US" sz="1200" b="0" kern="1200" dirty="0">
                <a:solidFill>
                  <a:schemeClr val="tx1"/>
                </a:solidFill>
                <a:effectLst/>
                <a:latin typeface="+mn-lt"/>
                <a:ea typeface="+mn-ea"/>
                <a:cs typeface="+mn-cs"/>
              </a:rPr>
              <a:t>an output classifier and a report-rendering layer. The two AD reports look and behave like</a:t>
            </a:r>
          </a:p>
          <a:p>
            <a:r>
              <a:rPr lang="en-US" sz="1200" b="0" kern="1200" dirty="0">
                <a:solidFill>
                  <a:schemeClr val="tx1"/>
                </a:solidFill>
                <a:effectLst/>
                <a:latin typeface="+mn-lt"/>
                <a:ea typeface="+mn-ea"/>
                <a:cs typeface="+mn-cs"/>
              </a:rPr>
              <a:t>one product rather than two separately-written scripts — and the second was substantially</a:t>
            </a:r>
          </a:p>
          <a:p>
            <a:r>
              <a:rPr lang="en-US" sz="1200" b="0" kern="1200" dirty="0">
                <a:solidFill>
                  <a:schemeClr val="tx1"/>
                </a:solidFill>
                <a:effectLst/>
                <a:latin typeface="+mn-lt"/>
                <a:ea typeface="+mn-ea"/>
                <a:cs typeface="+mn-cs"/>
              </a:rPr>
              <a:t>cheaper to build than the first.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What is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**Service Broker catalog**</a:t>
            </a:r>
            <a:r>
              <a:rPr lang="en-US" sz="1200" b="0" kern="1200" dirty="0">
                <a:solidFill>
                  <a:schemeClr val="tx1"/>
                </a:solidFill>
                <a:effectLst/>
                <a:latin typeface="+mn-lt"/>
                <a:ea typeface="+mn-ea"/>
                <a:cs typeface="+mn-cs"/>
              </a:rPr>
              <a:t> backed by Orchestrator workflows on VCF Automation 9.1 that lets authorized users deploy fully customized Windows and Linux VMs on demand, each configured to a consistent standard automatically, immediately after provisioning.</a:t>
            </a:r>
          </a:p>
          <a:p>
            <a:endParaRPr lang="en-US" dirty="0"/>
          </a:p>
          <a:p>
            <a:r>
              <a:rPr lang="en-US" sz="1200" b="1" kern="1200" dirty="0">
                <a:solidFill>
                  <a:schemeClr val="tx1"/>
                </a:solidFill>
                <a:effectLst/>
                <a:latin typeface="+mn-lt"/>
                <a:ea typeface="+mn-ea"/>
                <a:cs typeface="+mn-cs"/>
              </a:rPr>
              <a:t>### How it enhances what was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 Before (manual) | Now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**Delivery time**</a:t>
            </a:r>
            <a:r>
              <a:rPr lang="en-US" sz="1200" b="0" kern="1200" dirty="0">
                <a:solidFill>
                  <a:schemeClr val="tx1"/>
                </a:solidFill>
                <a:effectLst/>
                <a:latin typeface="+mn-lt"/>
                <a:ea typeface="+mn-ea"/>
                <a:cs typeface="+mn-cs"/>
              </a:rPr>
              <a:t> | A ticket in a build queue | Minutes, self-service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**Consistency**</a:t>
            </a:r>
            <a:r>
              <a:rPr lang="en-US" sz="1200" b="0" kern="1200" dirty="0">
                <a:solidFill>
                  <a:schemeClr val="tx1"/>
                </a:solidFill>
                <a:effectLst/>
                <a:latin typeface="+mn-lt"/>
                <a:ea typeface="+mn-ea"/>
                <a:cs typeface="+mn-cs"/>
              </a:rPr>
              <a:t> | Depends who built it | Every VM customized to the same standard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**Data disks**</a:t>
            </a:r>
            <a:r>
              <a:rPr lang="en-US" sz="1200" b="0" kern="1200" dirty="0">
                <a:solidFill>
                  <a:schemeClr val="tx1"/>
                </a:solidFill>
                <a:effectLst/>
                <a:latin typeface="+mn-lt"/>
                <a:ea typeface="+mn-ea"/>
                <a:cs typeface="+mn-cs"/>
              </a:rPr>
              <a:t> | Manually initialized, formatted and lettered in the guest | Automatic, matched by UUID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**AD placement**</a:t>
            </a:r>
            <a:r>
              <a:rPr lang="en-US" sz="1200" b="0" kern="1200" dirty="0">
                <a:solidFill>
                  <a:schemeClr val="tx1"/>
                </a:solidFill>
                <a:effectLst/>
                <a:latin typeface="+mn-lt"/>
                <a:ea typeface="+mn-ea"/>
                <a:cs typeface="+mn-cs"/>
              </a:rPr>
              <a:t> | Manual, or wherever the default sends it | Chosen from a scoped list, pre-created, verified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**Cleanup**</a:t>
            </a:r>
            <a:r>
              <a:rPr lang="en-US" sz="1200" b="0" kern="1200" dirty="0">
                <a:solidFill>
                  <a:schemeClr val="tx1"/>
                </a:solidFill>
                <a:effectLst/>
                <a:latin typeface="+mn-lt"/>
                <a:ea typeface="+mn-ea"/>
                <a:cs typeface="+mn-cs"/>
              </a:rPr>
              <a:t> | Stale computer objects accumulate | Removed on destroy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**Failure**</a:t>
            </a:r>
            <a:r>
              <a:rPr lang="en-US" sz="1200" b="0" kern="1200" dirty="0">
                <a:solidFill>
                  <a:schemeClr val="tx1"/>
                </a:solidFill>
                <a:effectLst/>
                <a:latin typeface="+mn-lt"/>
                <a:ea typeface="+mn-ea"/>
                <a:cs typeface="+mn-cs"/>
              </a:rPr>
              <a:t> | A half-built VM someone has to unpick | Destroyed automatically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**Audit**</a:t>
            </a:r>
            <a:r>
              <a:rPr lang="en-US" sz="1200" b="0" kern="1200" dirty="0">
                <a:solidFill>
                  <a:schemeClr val="tx1"/>
                </a:solidFill>
                <a:effectLst/>
                <a:latin typeface="+mn-lt"/>
                <a:ea typeface="+mn-ea"/>
                <a:cs typeface="+mn-cs"/>
              </a:rPr>
              <a:t> | The ticket | Full run history in VCF Automation and Orchestrator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**Engineer time**</a:t>
            </a:r>
            <a:r>
              <a:rPr lang="en-US" sz="1200" b="0" kern="1200" dirty="0">
                <a:solidFill>
                  <a:schemeClr val="tx1"/>
                </a:solidFill>
                <a:effectLst/>
                <a:latin typeface="+mn-lt"/>
                <a:ea typeface="+mn-ea"/>
                <a:cs typeface="+mn-cs"/>
              </a:rPr>
              <a:t> | Routine builds | Freed for higher-value work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What was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Two Ansible report playbooks doing the same job in two different ways — a lab variant and a</a:t>
            </a:r>
          </a:p>
          <a:p>
            <a:r>
              <a:rPr lang="en-US" sz="1200" b="0" kern="1200" dirty="0">
                <a:solidFill>
                  <a:schemeClr val="tx1"/>
                </a:solidFill>
                <a:effectLst/>
                <a:latin typeface="+mn-lt"/>
                <a:ea typeface="+mn-ea"/>
                <a:cs typeface="+mn-cs"/>
              </a:rPr>
              <a:t>production variant. Both were read-only: resolve an AD security group, check each member's</a:t>
            </a:r>
          </a:p>
          <a:p>
            <a:r>
              <a:rPr lang="en-US" sz="1200" b="0" kern="1200" dirty="0">
                <a:solidFill>
                  <a:schemeClr val="tx1"/>
                </a:solidFill>
                <a:effectLst/>
                <a:latin typeface="+mn-lt"/>
                <a:ea typeface="+mn-ea"/>
                <a:cs typeface="+mn-cs"/>
              </a:rPr>
              <a:t>pending-reboot state over WMI/registry/SCCM, and email an HTML report.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**What it was:**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production variant used a non-recursive, unfiltered lookup.**</a:t>
            </a:r>
            <a:r>
              <a:rPr lang="en-US" sz="1200" b="0" kern="1200" dirty="0">
                <a:solidFill>
                  <a:schemeClr val="tx1"/>
                </a:solidFill>
                <a:effectLst/>
                <a:latin typeface="+mn-lt"/>
                <a:ea typeface="+mn-ea"/>
                <a:cs typeface="+mn-cs"/>
              </a:rPr>
              <a:t> Servers sitting in a</a:t>
            </a:r>
          </a:p>
          <a:p>
            <a:r>
              <a:rPr lang="en-US" sz="1200" b="0" kern="1200" dirty="0">
                <a:solidFill>
                  <a:schemeClr val="tx1"/>
                </a:solidFill>
                <a:effectLst/>
                <a:latin typeface="+mn-lt"/>
                <a:ea typeface="+mn-ea"/>
                <a:cs typeface="+mn-cs"/>
              </a:rPr>
              <a:t>  nested sub-group were </a:t>
            </a:r>
            <a:r>
              <a:rPr lang="en-US" sz="1200" b="1" kern="1200" dirty="0">
                <a:solidFill>
                  <a:schemeClr val="tx1"/>
                </a:solidFill>
                <a:effectLst/>
                <a:latin typeface="+mn-lt"/>
                <a:ea typeface="+mn-ea"/>
                <a:cs typeface="+mn-cs"/>
              </a:rPr>
              <a:t>**silently missing from the report**</a:t>
            </a:r>
            <a:r>
              <a:rPr lang="en-US" sz="1200" b="0" kern="1200" dirty="0">
                <a:solidFill>
                  <a:schemeClr val="tx1"/>
                </a:solidFill>
                <a:effectLst/>
                <a:latin typeface="+mn-lt"/>
                <a:ea typeface="+mn-ea"/>
                <a:cs typeface="+mn-cs"/>
              </a:rPr>
              <a:t>, and users and disabled</a:t>
            </a:r>
          </a:p>
          <a:p>
            <a:r>
              <a:rPr lang="en-US" sz="1200" b="0" kern="1200" dirty="0">
                <a:solidFill>
                  <a:schemeClr val="tx1"/>
                </a:solidFill>
                <a:effectLst/>
                <a:latin typeface="+mn-lt"/>
                <a:ea typeface="+mn-ea"/>
                <a:cs typeface="+mn-cs"/>
              </a:rPr>
              <a:t>  computer objects were included as noise rows.</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**An empty CC list broke the email entirely.**</a:t>
            </a:r>
            <a:r>
              <a:rPr lang="en-US" sz="1200" b="0" kern="1200" dirty="0">
                <a:solidFill>
                  <a:schemeClr val="tx1"/>
                </a:solidFill>
                <a:effectLst/>
                <a:latin typeface="+mn-lt"/>
                <a:ea typeface="+mn-ea"/>
                <a:cs typeface="+mn-cs"/>
              </a:rPr>
              <a:t> The mail routine always passed a `-Cc`</a:t>
            </a:r>
          </a:p>
          <a:p>
            <a:r>
              <a:rPr lang="en-US" sz="1200" b="0" kern="1200" dirty="0">
                <a:solidFill>
                  <a:schemeClr val="tx1"/>
                </a:solidFill>
                <a:effectLst/>
                <a:latin typeface="+mn-lt"/>
                <a:ea typeface="+mn-ea"/>
                <a:cs typeface="+mn-cs"/>
              </a:rPr>
              <a:t>  argument; with no CC configured it passed a single blank recipient, which the mail cmdlet</a:t>
            </a:r>
          </a:p>
          <a:p>
            <a:r>
              <a:rPr lang="en-US" sz="1200" b="0" kern="1200" dirty="0">
                <a:solidFill>
                  <a:schemeClr val="tx1"/>
                </a:solidFill>
                <a:effectLst/>
                <a:latin typeface="+mn-lt"/>
                <a:ea typeface="+mn-ea"/>
                <a:cs typeface="+mn-cs"/>
              </a:rPr>
              <a:t>  rejects outright. This </a:t>
            </a:r>
            <a:r>
              <a:rPr lang="en-US" sz="1200" b="1" kern="1200" dirty="0">
                <a:solidFill>
                  <a:schemeClr val="tx1"/>
                </a:solidFill>
                <a:effectLst/>
                <a:latin typeface="+mn-lt"/>
                <a:ea typeface="+mn-ea"/>
                <a:cs typeface="+mn-cs"/>
              </a:rPr>
              <a:t>**failed every emailed report in the toolbox**</a:t>
            </a:r>
            <a:r>
              <a:rPr lang="en-US" sz="1200" b="0" kern="1200" dirty="0">
                <a:solidFill>
                  <a:schemeClr val="tx1"/>
                </a:solidFill>
                <a:effectLst/>
                <a:latin typeface="+mn-lt"/>
                <a:ea typeface="+mn-ea"/>
                <a:cs typeface="+mn-cs"/>
              </a:rPr>
              <a:t>, not just this one.</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result file was written in append mode**</a:t>
            </a:r>
            <a:r>
              <a:rPr lang="en-US" sz="1200" b="0" kern="1200" dirty="0">
                <a:solidFill>
                  <a:schemeClr val="tx1"/>
                </a:solidFill>
                <a:effectLst/>
                <a:latin typeface="+mn-lt"/>
                <a:ea typeface="+mn-ea"/>
                <a:cs typeface="+mn-cs"/>
              </a:rPr>
              <a:t> and grew on every scheduled run — an</a:t>
            </a:r>
          </a:p>
          <a:p>
            <a:r>
              <a:rPr lang="en-US" sz="1200" b="0" kern="1200" dirty="0">
                <a:solidFill>
                  <a:schemeClr val="tx1"/>
                </a:solidFill>
                <a:effectLst/>
                <a:latin typeface="+mn-lt"/>
                <a:ea typeface="+mn-ea"/>
                <a:cs typeface="+mn-cs"/>
              </a:rPr>
              <a:t>  unbounded drive-fill risk on the PowerShell host, with no guarantee that any cleanup job</a:t>
            </a:r>
          </a:p>
          <a:p>
            <a:r>
              <a:rPr lang="en-US" sz="1200" b="0" kern="1200" dirty="0">
                <a:solidFill>
                  <a:schemeClr val="tx1"/>
                </a:solidFill>
                <a:effectLst/>
                <a:latin typeface="+mn-lt"/>
                <a:ea typeface="+mn-ea"/>
                <a:cs typeface="+mn-cs"/>
              </a:rPr>
              <a:t>  existed.</a:t>
            </a:r>
          </a:p>
          <a:p>
            <a:r>
              <a:rPr lang="en-US" sz="1200" b="0" kern="1200" dirty="0">
                <a:solidFill>
                  <a:schemeClr val="tx1"/>
                </a:solidFill>
                <a:effectLst/>
                <a:latin typeface="+mn-lt"/>
                <a:ea typeface="+mn-ea"/>
                <a:cs typeface="+mn-cs"/>
              </a:rPr>
              <a:t>- Two playbooks to maintain for one question.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What is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**One read-only workflow — </a:t>
            </a:r>
            <a:r>
              <a:rPr lang="en-US" sz="1200" b="0" i="1" kern="1200" dirty="0">
                <a:solidFill>
                  <a:schemeClr val="tx1"/>
                </a:solidFill>
                <a:effectLst/>
                <a:latin typeface="+mn-lt"/>
                <a:ea typeface="+mn-ea"/>
                <a:cs typeface="+mn-cs"/>
              </a:rPr>
              <a:t>*Get Server Reboot Report*</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that answers "which servers in</a:t>
            </a:r>
          </a:p>
          <a:p>
            <a:r>
              <a:rPr lang="en-US" sz="1200" b="0" kern="1200" dirty="0">
                <a:solidFill>
                  <a:schemeClr val="tx1"/>
                </a:solidFill>
                <a:effectLst/>
                <a:latin typeface="+mn-lt"/>
                <a:ea typeface="+mn-ea"/>
                <a:cs typeface="+mn-cs"/>
              </a:rPr>
              <a:t>this group have a pending reboot?" with no Ansible dependency.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Enhancement | What it fixes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The lookup is now </a:t>
            </a:r>
            <a:r>
              <a:rPr lang="en-US" sz="1200" b="1" kern="1200" dirty="0">
                <a:solidFill>
                  <a:schemeClr val="tx1"/>
                </a:solidFill>
                <a:effectLst/>
                <a:latin typeface="+mn-lt"/>
                <a:ea typeface="+mn-ea"/>
                <a:cs typeface="+mn-cs"/>
              </a:rPr>
              <a:t>**recursive**</a:t>
            </a:r>
            <a:r>
              <a:rPr lang="en-US" sz="1200" b="0" kern="1200" dirty="0">
                <a:solidFill>
                  <a:schemeClr val="tx1"/>
                </a:solidFill>
                <a:effectLst/>
                <a:latin typeface="+mn-lt"/>
                <a:ea typeface="+mn-ea"/>
                <a:cs typeface="+mn-cs"/>
              </a:rPr>
              <a:t>, and filtered to enabled computer objects only. Nested groups are expanded; users and disabled objects are dropped. Production reporting no longer silently misses servers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**Recursion is the </a:t>
            </a:r>
            <a:r>
              <a:rPr lang="en-US" sz="1200" b="0" i="1" kern="1200" dirty="0">
                <a:solidFill>
                  <a:schemeClr val="tx1"/>
                </a:solidFill>
                <a:effectLst/>
                <a:latin typeface="+mn-lt"/>
                <a:ea typeface="+mn-ea"/>
                <a:cs typeface="+mn-cs"/>
              </a:rPr>
              <a:t>*right*</a:t>
            </a:r>
            <a:r>
              <a:rPr lang="en-US" sz="1200" b="1" kern="1200" dirty="0">
                <a:solidFill>
                  <a:schemeClr val="tx1"/>
                </a:solidFill>
                <a:effectLst/>
                <a:latin typeface="+mn-lt"/>
                <a:ea typeface="+mn-ea"/>
                <a:cs typeface="+mn-cs"/>
              </a:rPr>
              <a:t> choice here — deliberately**</a:t>
            </a:r>
            <a:r>
              <a:rPr lang="en-US" sz="1200" b="0" kern="1200" dirty="0">
                <a:solidFill>
                  <a:schemeClr val="tx1"/>
                </a:solidFill>
                <a:effectLst/>
                <a:latin typeface="+mn-lt"/>
                <a:ea typeface="+mn-ea"/>
                <a:cs typeface="+mn-cs"/>
              </a:rPr>
              <a:t> | Expanding a nested group on a </a:t>
            </a:r>
            <a:r>
              <a:rPr lang="en-US" sz="1200" b="1" kern="1200" dirty="0">
                <a:solidFill>
                  <a:schemeClr val="tx1"/>
                </a:solidFill>
                <a:effectLst/>
                <a:latin typeface="+mn-lt"/>
                <a:ea typeface="+mn-ea"/>
                <a:cs typeface="+mn-cs"/>
              </a:rPr>
              <a:t>**read-only**</a:t>
            </a:r>
            <a:r>
              <a:rPr lang="en-US" sz="1200" b="0" kern="1200" dirty="0">
                <a:solidFill>
                  <a:schemeClr val="tx1"/>
                </a:solidFill>
                <a:effectLst/>
                <a:latin typeface="+mn-lt"/>
                <a:ea typeface="+mn-ea"/>
                <a:cs typeface="+mn-cs"/>
              </a:rPr>
              <a:t> report only makes the picture more complete. The reboot workflow stays deliberately non-recursive, because </a:t>
            </a:r>
            <a:r>
              <a:rPr lang="en-US" sz="1200" b="0" i="1" kern="1200" dirty="0">
                <a:solidFill>
                  <a:schemeClr val="tx1"/>
                </a:solidFill>
                <a:effectLst/>
                <a:latin typeface="+mn-lt"/>
                <a:ea typeface="+mn-ea"/>
                <a:cs typeface="+mn-cs"/>
              </a:rPr>
              <a:t>*acting*</a:t>
            </a:r>
            <a:r>
              <a:rPr lang="en-US" sz="1200" b="0" kern="1200" dirty="0">
                <a:solidFill>
                  <a:schemeClr val="tx1"/>
                </a:solidFill>
                <a:effectLst/>
                <a:latin typeface="+mn-lt"/>
                <a:ea typeface="+mn-ea"/>
                <a:cs typeface="+mn-cs"/>
              </a:rPr>
              <a:t> on a silently-expanded group is a different risk entirely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**CC is genuinely optional**</a:t>
            </a:r>
            <a:r>
              <a:rPr lang="en-US" sz="1200" b="0" kern="1200" dirty="0">
                <a:solidFill>
                  <a:schemeClr val="tx1"/>
                </a:solidFill>
                <a:effectLst/>
                <a:latin typeface="+mn-lt"/>
                <a:ea typeface="+mn-ea"/>
                <a:cs typeface="+mn-cs"/>
              </a:rPr>
              <a:t> | Blank entries are dropped before the mail is built. Fixes emailed reports across the whole toolbox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**Report files no longer accumulate**</a:t>
            </a:r>
            <a:r>
              <a:rPr lang="en-US" sz="1200" b="0" kern="1200" dirty="0">
                <a:solidFill>
                  <a:schemeClr val="tx1"/>
                </a:solidFill>
                <a:effectLst/>
                <a:latin typeface="+mn-lt"/>
                <a:ea typeface="+mn-ea"/>
                <a:cs typeface="+mn-cs"/>
              </a:rPr>
              <a:t> | Written with overwrite instead of append, and </a:t>
            </a:r>
            <a:r>
              <a:rPr lang="en-US" sz="1200" b="1" kern="1200" dirty="0">
                <a:solidFill>
                  <a:schemeClr val="tx1"/>
                </a:solidFill>
                <a:effectLst/>
                <a:latin typeface="+mn-lt"/>
                <a:ea typeface="+mn-ea"/>
                <a:cs typeface="+mn-cs"/>
              </a:rPr>
              <a:t>**deleted after a confirmed successful send**</a:t>
            </a:r>
            <a:r>
              <a:rPr lang="en-US" sz="1200" b="0" kern="1200" dirty="0">
                <a:solidFill>
                  <a:schemeClr val="tx1"/>
                </a:solidFill>
                <a:effectLst/>
                <a:latin typeface="+mn-lt"/>
                <a:ea typeface="+mn-ea"/>
                <a:cs typeface="+mn-cs"/>
              </a:rPr>
              <a:t>. On a report-only run or a failed send the file is kept — at one run's size — and a warning is logged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**Input hygiene**</a:t>
            </a:r>
            <a:r>
              <a:rPr lang="en-US" sz="1200" b="0" kern="1200" dirty="0">
                <a:solidFill>
                  <a:schemeClr val="tx1"/>
                </a:solidFill>
                <a:effectLst/>
                <a:latin typeface="+mn-lt"/>
                <a:ea typeface="+mn-ea"/>
                <a:cs typeface="+mn-cs"/>
              </a:rPr>
              <a:t> | The report header is derived from the group DN rather than being a second input that can disagree with it; recipients are accepted as either a list or a comma-separated string; a malformed address is rejected with a clear error instead of being silently split into single characters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**Traceability**</a:t>
            </a:r>
            <a:r>
              <a:rPr lang="en-US" sz="1200" b="0" kern="1200" dirty="0">
                <a:solidFill>
                  <a:schemeClr val="tx1"/>
                </a:solidFill>
                <a:effectLst/>
                <a:latin typeface="+mn-lt"/>
                <a:ea typeface="+mn-ea"/>
                <a:cs typeface="+mn-cs"/>
              </a:rPr>
              <a:t> | Every log line in the run is stamped with the workflow name and run ID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What was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**Three**</a:t>
            </a:r>
            <a:r>
              <a:rPr lang="en-US" sz="1200" b="0" kern="1200" dirty="0">
                <a:solidFill>
                  <a:schemeClr val="tx1"/>
                </a:solidFill>
                <a:effectLst/>
                <a:latin typeface="+mn-lt"/>
                <a:ea typeface="+mn-ea"/>
                <a:cs typeface="+mn-cs"/>
              </a:rPr>
              <a:t> Ansible job templates producing a privileged-account PKI compliance report — which</a:t>
            </a:r>
          </a:p>
          <a:p>
            <a:r>
              <a:rPr lang="en-US" sz="1200" b="0" kern="1200" dirty="0">
                <a:solidFill>
                  <a:schemeClr val="tx1"/>
                </a:solidFill>
                <a:effectLst/>
                <a:latin typeface="+mn-lt"/>
                <a:ea typeface="+mn-ea"/>
                <a:cs typeface="+mn-cs"/>
              </a:rPr>
              <a:t>admin accounts do </a:t>
            </a:r>
            <a:r>
              <a:rPr lang="en-US" sz="1200" b="1" kern="1200" dirty="0">
                <a:solidFill>
                  <a:schemeClr val="tx1"/>
                </a:solidFill>
                <a:effectLst/>
                <a:latin typeface="+mn-lt"/>
                <a:ea typeface="+mn-ea"/>
                <a:cs typeface="+mn-cs"/>
              </a:rPr>
              <a:t>**not**</a:t>
            </a:r>
            <a:r>
              <a:rPr lang="en-US" sz="1200" b="0" kern="1200" dirty="0">
                <a:solidFill>
                  <a:schemeClr val="tx1"/>
                </a:solidFill>
                <a:effectLst/>
                <a:latin typeface="+mn-lt"/>
                <a:ea typeface="+mn-ea"/>
                <a:cs typeface="+mn-cs"/>
              </a:rPr>
              <a:t> require a smart card to log on. Two were multi-domain; one was</a:t>
            </a:r>
          </a:p>
          <a:p>
            <a:r>
              <a:rPr lang="en-US" sz="1200" b="0" kern="1200" dirty="0">
                <a:solidFill>
                  <a:schemeClr val="tx1"/>
                </a:solidFill>
                <a:effectLst/>
                <a:latin typeface="+mn-lt"/>
                <a:ea typeface="+mn-ea"/>
                <a:cs typeface="+mn-cs"/>
              </a:rPr>
              <a:t>single-OU.</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**What was wrong with it:**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two multi-domain templates ran on a </a:t>
            </a:r>
            <a:r>
              <a:rPr lang="en-US" sz="1200" b="0" i="1" kern="1200" dirty="0">
                <a:solidFill>
                  <a:schemeClr val="tx1"/>
                </a:solidFill>
                <a:effectLst/>
                <a:latin typeface="+mn-lt"/>
                <a:ea typeface="+mn-ea"/>
                <a:cs typeface="+mn-cs"/>
              </a:rPr>
              <a:t>*forked copy*</a:t>
            </a:r>
            <a:r>
              <a:rPr lang="en-US" sz="1200" b="1" kern="1200" dirty="0">
                <a:solidFill>
                  <a:schemeClr val="tx1"/>
                </a:solidFill>
                <a:effectLst/>
                <a:latin typeface="+mn-lt"/>
                <a:ea typeface="+mn-ea"/>
                <a:cs typeface="+mn-cs"/>
              </a:rPr>
              <a:t> of the shared script.**</a:t>
            </a:r>
            <a:r>
              <a:rPr lang="en-US" sz="1200" b="0" kern="1200" dirty="0">
                <a:solidFill>
                  <a:schemeClr val="tx1"/>
                </a:solidFill>
                <a:effectLst/>
                <a:latin typeface="+mn-lt"/>
                <a:ea typeface="+mn-ea"/>
                <a:cs typeface="+mn-cs"/>
              </a:rPr>
              <a:t> That fork</a:t>
            </a:r>
          </a:p>
          <a:p>
            <a:r>
              <a:rPr lang="en-US" sz="1200" b="0" kern="1200" dirty="0">
                <a:solidFill>
                  <a:schemeClr val="tx1"/>
                </a:solidFill>
                <a:effectLst/>
                <a:latin typeface="+mn-lt"/>
                <a:ea typeface="+mn-ea"/>
                <a:cs typeface="+mn-cs"/>
              </a:rPr>
              <a:t>  was the only place the multi-domain capability existed — and it predated </a:t>
            </a:r>
            <a:r>
              <a:rPr lang="en-US" sz="1200" b="1" kern="1200" dirty="0">
                <a:solidFill>
                  <a:schemeClr val="tx1"/>
                </a:solidFill>
                <a:effectLst/>
                <a:latin typeface="+mn-lt"/>
                <a:ea typeface="+mn-ea"/>
                <a:cs typeface="+mn-cs"/>
              </a:rPr>
              <a:t>**every**</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resilience improvement made during this transition. Two divergent copies of a shared</a:t>
            </a:r>
          </a:p>
          <a:p>
            <a:r>
              <a:rPr lang="en-US" sz="1200" b="0" kern="1200" dirty="0">
                <a:solidFill>
                  <a:schemeClr val="tx1"/>
                </a:solidFill>
                <a:effectLst/>
                <a:latin typeface="+mn-lt"/>
                <a:ea typeface="+mn-ea"/>
                <a:cs typeface="+mn-cs"/>
              </a:rPr>
              <a:t>  toolbox were being maintained indefinitely.</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**Silent partial sweeps.**</a:t>
            </a:r>
            <a:r>
              <a:rPr lang="en-US" sz="1200" b="0" kern="1200" dirty="0">
                <a:solidFill>
                  <a:schemeClr val="tx1"/>
                </a:solidFill>
                <a:effectLst/>
                <a:latin typeface="+mn-lt"/>
                <a:ea typeface="+mn-ea"/>
                <a:cs typeface="+mn-cs"/>
              </a:rPr>
              <a:t> The AD query had no error handling. A bad OU DN, an unreachable</a:t>
            </a:r>
          </a:p>
          <a:p>
            <a:r>
              <a:rPr lang="en-US" sz="1200" b="0" kern="1200" dirty="0">
                <a:solidFill>
                  <a:schemeClr val="tx1"/>
                </a:solidFill>
                <a:effectLst/>
                <a:latin typeface="+mn-lt"/>
                <a:ea typeface="+mn-ea"/>
                <a:cs typeface="+mn-cs"/>
              </a:rPr>
              <a:t>  domain controller or a broken trust raised a </a:t>
            </a:r>
            <a:r>
              <a:rPr lang="en-US" sz="1200" b="1" kern="1200" dirty="0">
                <a:solidFill>
                  <a:schemeClr val="tx1"/>
                </a:solidFill>
                <a:effectLst/>
                <a:latin typeface="+mn-lt"/>
                <a:ea typeface="+mn-ea"/>
                <a:cs typeface="+mn-cs"/>
              </a:rPr>
              <a:t>**non-terminating**</a:t>
            </a:r>
            <a:r>
              <a:rPr lang="en-US" sz="1200" b="0" kern="1200" dirty="0">
                <a:solidFill>
                  <a:schemeClr val="tx1"/>
                </a:solidFill>
                <a:effectLst/>
                <a:latin typeface="+mn-lt"/>
                <a:ea typeface="+mn-ea"/>
                <a:cs typeface="+mn-cs"/>
              </a:rPr>
              <a:t> error nobody saw — so a</a:t>
            </a:r>
          </a:p>
          <a:p>
            <a:r>
              <a:rPr lang="en-US" sz="1200" b="0" kern="1200" dirty="0">
                <a:solidFill>
                  <a:schemeClr val="tx1"/>
                </a:solidFill>
                <a:effectLst/>
                <a:latin typeface="+mn-lt"/>
                <a:ea typeface="+mn-ea"/>
                <a:cs typeface="+mn-cs"/>
              </a:rPr>
              <a:t>  partial sweep was reported as a clean run, </a:t>
            </a:r>
            <a:r>
              <a:rPr lang="en-US" sz="1200" b="1" kern="1200" dirty="0">
                <a:solidFill>
                  <a:schemeClr val="tx1"/>
                </a:solidFill>
                <a:effectLst/>
                <a:latin typeface="+mn-lt"/>
                <a:ea typeface="+mn-ea"/>
                <a:cs typeface="+mn-cs"/>
              </a:rPr>
              <a:t>**and the missing accounts read as compliant**</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failed OU produces no rows — which looks exactly like a compliant OU.**</a:t>
            </a:r>
            <a:r>
              <a:rPr lang="en-US" sz="1200" b="0" kern="1200" dirty="0">
                <a:solidFill>
                  <a:schemeClr val="tx1"/>
                </a:solidFill>
                <a:effectLst/>
                <a:latin typeface="+mn-lt"/>
                <a:ea typeface="+mn-ea"/>
                <a:cs typeface="+mn-cs"/>
              </a:rPr>
              <a:t> The people who</a:t>
            </a:r>
          </a:p>
          <a:p>
            <a:r>
              <a:rPr lang="en-US" sz="1200" b="0" kern="1200" dirty="0">
                <a:solidFill>
                  <a:schemeClr val="tx1"/>
                </a:solidFill>
                <a:effectLst/>
                <a:latin typeface="+mn-lt"/>
                <a:ea typeface="+mn-ea"/>
                <a:cs typeface="+mn-cs"/>
              </a:rPr>
              <a:t>  act on this report read the email, not a console.</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**Overlapping OUs inflated the figures.**</a:t>
            </a:r>
            <a:r>
              <a:rPr lang="en-US" sz="1200" b="0" kern="1200" dirty="0">
                <a:solidFill>
                  <a:schemeClr val="tx1"/>
                </a:solidFill>
                <a:effectLst/>
                <a:latin typeface="+mn-lt"/>
                <a:ea typeface="+mn-ea"/>
                <a:cs typeface="+mn-cs"/>
              </a:rPr>
              <a:t> AD searches are fully recursive, so listing both</a:t>
            </a:r>
          </a:p>
          <a:p>
            <a:r>
              <a:rPr lang="en-US" sz="1200" b="0" kern="1200" dirty="0">
                <a:solidFill>
                  <a:schemeClr val="tx1"/>
                </a:solidFill>
                <a:effectLst/>
                <a:latin typeface="+mn-lt"/>
                <a:ea typeface="+mn-ea"/>
                <a:cs typeface="+mn-cs"/>
              </a:rPr>
              <a:t>  a parent OU and a descendant returned the deeper accounts twice.</a:t>
            </a:r>
          </a:p>
          <a:p>
            <a:r>
              <a:rPr lang="en-US" sz="1200" b="0" kern="1200" dirty="0">
                <a:solidFill>
                  <a:schemeClr val="tx1"/>
                </a:solidFill>
                <a:effectLst/>
                <a:latin typeface="+mn-lt"/>
                <a:ea typeface="+mn-ea"/>
                <a:cs typeface="+mn-cs"/>
              </a:rPr>
              <a:t>- One flat table merging every domain, forcing the reader to infer a row's domain from its</a:t>
            </a:r>
          </a:p>
          <a:p>
            <a:r>
              <a:rPr lang="en-US" sz="1200" b="0" kern="1200" dirty="0">
                <a:solidFill>
                  <a:schemeClr val="tx1"/>
                </a:solidFill>
                <a:effectLst/>
                <a:latin typeface="+mn-lt"/>
                <a:ea typeface="+mn-ea"/>
                <a:cs typeface="+mn-cs"/>
              </a:rPr>
              <a:t>  email-address suffix.</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What is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**One workflow — </a:t>
            </a:r>
            <a:r>
              <a:rPr lang="en-US" sz="1200" b="0" i="1" kern="1200" dirty="0">
                <a:solidFill>
                  <a:schemeClr val="tx1"/>
                </a:solidFill>
                <a:effectLst/>
                <a:latin typeface="+mn-lt"/>
                <a:ea typeface="+mn-ea"/>
                <a:cs typeface="+mn-cs"/>
              </a:rPr>
              <a:t>*Get-</a:t>
            </a:r>
            <a:r>
              <a:rPr lang="en-US" sz="1200" b="0" i="1" kern="1200" dirty="0" err="1">
                <a:solidFill>
                  <a:schemeClr val="tx1"/>
                </a:solidFill>
                <a:effectLst/>
                <a:latin typeface="+mn-lt"/>
                <a:ea typeface="+mn-ea"/>
                <a:cs typeface="+mn-cs"/>
              </a:rPr>
              <a:t>AdminAccountsReport</a:t>
            </a:r>
            <a:r>
              <a:rPr lang="en-US" sz="1200" b="0" i="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replacing all three templates. Strictly</a:t>
            </a:r>
          </a:p>
          <a:p>
            <a:r>
              <a:rPr lang="en-US" sz="1200" b="0" kern="1200" dirty="0">
                <a:solidFill>
                  <a:schemeClr val="tx1"/>
                </a:solidFill>
                <a:effectLst/>
                <a:latin typeface="+mn-lt"/>
                <a:ea typeface="+mn-ea"/>
                <a:cs typeface="+mn-cs"/>
              </a:rPr>
              <a:t>read-only: it issues directory queries and sends an email; it cannot modify anything.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operator supplies a </a:t>
            </a:r>
            <a:r>
              <a:rPr lang="en-US" sz="1200" b="1" kern="1200" dirty="0">
                <a:solidFill>
                  <a:schemeClr val="tx1"/>
                </a:solidFill>
                <a:effectLst/>
                <a:latin typeface="+mn-lt"/>
                <a:ea typeface="+mn-ea"/>
                <a:cs typeface="+mn-cs"/>
              </a:rPr>
              <a:t>**flat list of OU </a:t>
            </a:r>
            <a:r>
              <a:rPr lang="en-US" sz="1200" b="1" kern="1200" dirty="0" err="1">
                <a:solidFill>
                  <a:schemeClr val="tx1"/>
                </a:solidFill>
                <a:effectLst/>
                <a:latin typeface="+mn-lt"/>
                <a:ea typeface="+mn-ea"/>
                <a:cs typeface="+mn-cs"/>
              </a:rPr>
              <a:t>distinguishedNames</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and the domain is derived</a:t>
            </a:r>
          </a:p>
          <a:p>
            <a:r>
              <a:rPr lang="en-US" sz="1200" b="0" kern="1200" dirty="0">
                <a:solidFill>
                  <a:schemeClr val="tx1"/>
                </a:solidFill>
                <a:effectLst/>
                <a:latin typeface="+mn-lt"/>
                <a:ea typeface="+mn-ea"/>
                <a:cs typeface="+mn-cs"/>
              </a:rPr>
              <a:t>from each DN itself. Single-domain versus multi-domain stops being a mode anyone selects —</a:t>
            </a:r>
          </a:p>
          <a:p>
            <a:r>
              <a:rPr lang="en-US" sz="1200" b="0" kern="1200" dirty="0">
                <a:solidFill>
                  <a:schemeClr val="tx1"/>
                </a:solidFill>
                <a:effectLst/>
                <a:latin typeface="+mn-lt"/>
                <a:ea typeface="+mn-ea"/>
                <a:cs typeface="+mn-cs"/>
              </a:rPr>
              <a:t>it falls out of the DNs supplied.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Enhancement | What it fixes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fork is retired**</a:t>
            </a:r>
            <a:r>
              <a:rPr lang="en-US" sz="1200" b="0" kern="1200" dirty="0">
                <a:solidFill>
                  <a:schemeClr val="tx1"/>
                </a:solidFill>
                <a:effectLst/>
                <a:latin typeface="+mn-lt"/>
                <a:ea typeface="+mn-ea"/>
                <a:cs typeface="+mn-cs"/>
              </a:rPr>
              <a:t> | Its capability merged into the hardened mainline. One shared script again — no more fixes landing in only one copy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**Failures are visible on the report**</a:t>
            </a:r>
            <a:r>
              <a:rPr lang="en-US" sz="1200" b="0" kern="1200" dirty="0">
                <a:solidFill>
                  <a:schemeClr val="tx1"/>
                </a:solidFill>
                <a:effectLst/>
                <a:latin typeface="+mn-lt"/>
                <a:ea typeface="+mn-ea"/>
                <a:cs typeface="+mn-cs"/>
              </a:rPr>
              <a:t> | A leading banner, a per-OU `NOT READ` flag, and an </a:t>
            </a:r>
            <a:r>
              <a:rPr lang="en-US" sz="1200" b="1" kern="1200" dirty="0">
                <a:solidFill>
                  <a:schemeClr val="tx1"/>
                </a:solidFill>
                <a:effectLst/>
                <a:latin typeface="+mn-lt"/>
                <a:ea typeface="+mn-ea"/>
                <a:cs typeface="+mn-cs"/>
              </a:rPr>
              <a:t>**`[INCOMPLETE]` prefix on the subject line**</a:t>
            </a:r>
            <a:r>
              <a:rPr lang="en-US" sz="1200" b="0" kern="1200" dirty="0">
                <a:solidFill>
                  <a:schemeClr val="tx1"/>
                </a:solidFill>
                <a:effectLst/>
                <a:latin typeface="+mn-lt"/>
                <a:ea typeface="+mn-ea"/>
                <a:cs typeface="+mn-cs"/>
              </a:rPr>
              <a:t>. An unread OU can no longer masquerade as a compliant one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**Failures are explained, not just reported**</a:t>
            </a:r>
            <a:r>
              <a:rPr lang="en-US" sz="1200" b="0" kern="1200" dirty="0">
                <a:solidFill>
                  <a:schemeClr val="tx1"/>
                </a:solidFill>
                <a:effectLst/>
                <a:latin typeface="+mn-lt"/>
                <a:ea typeface="+mn-ea"/>
                <a:cs typeface="+mn-cs"/>
              </a:rPr>
              <a:t> | Each is classified — </a:t>
            </a:r>
            <a:r>
              <a:rPr lang="en-US" sz="1200" b="0" i="1" kern="1200" dirty="0">
                <a:solidFill>
                  <a:schemeClr val="tx1"/>
                </a:solidFill>
                <a:effectLst/>
                <a:latin typeface="+mn-lt"/>
                <a:ea typeface="+mn-ea"/>
                <a:cs typeface="+mn-cs"/>
              </a:rPr>
              <a:t>*scope error / access denied / authentication / unreachable*</a:t>
            </a:r>
            <a:r>
              <a:rPr lang="en-US" sz="1200" b="0" kern="1200" dirty="0">
                <a:solidFill>
                  <a:schemeClr val="tx1"/>
                </a:solidFill>
                <a:effectLst/>
                <a:latin typeface="+mn-lt"/>
                <a:ea typeface="+mn-ea"/>
                <a:cs typeface="+mn-cs"/>
              </a:rPr>
              <a:t> — with guidance on who fixes it. A </a:t>
            </a:r>
            <a:r>
              <a:rPr lang="en-US" sz="1200" b="1" kern="1200" dirty="0">
                <a:solidFill>
                  <a:schemeClr val="tx1"/>
                </a:solidFill>
                <a:effectLst/>
                <a:latin typeface="+mn-lt"/>
                <a:ea typeface="+mn-ea"/>
                <a:cs typeface="+mn-cs"/>
              </a:rPr>
              <a:t>**referral means the server answered**</a:t>
            </a:r>
            <a:r>
              <a:rPr lang="en-US" sz="1200" b="0" kern="1200" dirty="0">
                <a:solidFill>
                  <a:schemeClr val="tx1"/>
                </a:solidFill>
                <a:effectLst/>
                <a:latin typeface="+mn-lt"/>
                <a:ea typeface="+mn-ea"/>
                <a:cs typeface="+mn-cs"/>
              </a:rPr>
              <a:t> and said the naming context isn't its own: a deterministic targeting fault fixed by correcting the OU list. "Not operational" is an availability fault that may clear itself. </a:t>
            </a:r>
            <a:r>
              <a:rPr lang="en-US" sz="1200" b="1" kern="1200" dirty="0">
                <a:solidFill>
                  <a:schemeClr val="tx1"/>
                </a:solidFill>
                <a:effectLst/>
                <a:latin typeface="+mn-lt"/>
                <a:ea typeface="+mn-ea"/>
                <a:cs typeface="+mn-cs"/>
              </a:rPr>
              <a:t>**Retrying helps the second and never the first**</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**Management-readable output**</a:t>
            </a:r>
            <a:r>
              <a:rPr lang="en-US" sz="1200" b="0" kern="1200" dirty="0">
                <a:solidFill>
                  <a:schemeClr val="tx1"/>
                </a:solidFill>
                <a:effectLst/>
                <a:latin typeface="+mn-lt"/>
                <a:ea typeface="+mn-ea"/>
                <a:cs typeface="+mn-cs"/>
              </a:rPr>
              <a:t> | Executive summary → per-domain sections with a plain-language status → per-OU sub-sections. Answers </a:t>
            </a:r>
            <a:r>
              <a:rPr lang="en-US" sz="1200" b="0" i="1" kern="1200" dirty="0">
                <a:solidFill>
                  <a:schemeClr val="tx1"/>
                </a:solidFill>
                <a:effectLst/>
                <a:latin typeface="+mn-lt"/>
                <a:ea typeface="+mn-ea"/>
                <a:cs typeface="+mn-cs"/>
              </a:rPr>
              <a:t>*"which domain and OU are worst?"*</a:t>
            </a:r>
            <a:r>
              <a:rPr lang="en-US" sz="1200" b="0" kern="1200" dirty="0">
                <a:solidFill>
                  <a:schemeClr val="tx1"/>
                </a:solidFill>
                <a:effectLst/>
                <a:latin typeface="+mn-lt"/>
                <a:ea typeface="+mn-ea"/>
                <a:cs typeface="+mn-cs"/>
              </a:rPr>
              <a:t> without reading the whole table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**Sections driven by the requested scope, not the returned data**</a:t>
            </a:r>
            <a:r>
              <a:rPr lang="en-US" sz="1200" b="0" kern="1200" dirty="0">
                <a:solidFill>
                  <a:schemeClr val="tx1"/>
                </a:solidFill>
                <a:effectLst/>
                <a:latin typeface="+mn-lt"/>
                <a:ea typeface="+mn-ea"/>
                <a:cs typeface="+mn-cs"/>
              </a:rPr>
              <a:t> | An OU that returned nothing still gets a heading saying so — rather than silently vanishing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**Counts can be trusted**</a:t>
            </a:r>
            <a:r>
              <a:rPr lang="en-US" sz="1200" b="0" kern="1200" dirty="0">
                <a:solidFill>
                  <a:schemeClr val="tx1"/>
                </a:solidFill>
                <a:effectLst/>
                <a:latin typeface="+mn-lt"/>
                <a:ea typeface="+mn-ea"/>
                <a:cs typeface="+mn-cs"/>
              </a:rPr>
              <a:t> | Overlapping OUs de-duplicated to one entry per account, </a:t>
            </a:r>
            <a:r>
              <a:rPr lang="en-US" sz="1200" b="1" kern="1200" dirty="0">
                <a:solidFill>
                  <a:schemeClr val="tx1"/>
                </a:solidFill>
                <a:effectLst/>
                <a:latin typeface="+mn-lt"/>
                <a:ea typeface="+mn-ea"/>
                <a:cs typeface="+mn-cs"/>
              </a:rPr>
              <a:t>**before the counts are taken**</a:t>
            </a:r>
            <a:r>
              <a:rPr lang="en-US" sz="1200" b="0" kern="1200" dirty="0">
                <a:solidFill>
                  <a:schemeClr val="tx1"/>
                </a:solidFill>
                <a:effectLst/>
                <a:latin typeface="+mn-lt"/>
                <a:ea typeface="+mn-ea"/>
                <a:cs typeface="+mn-cs"/>
              </a:rPr>
              <a:t>, so subject line and body cannot disagree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**Failure contract**</a:t>
            </a:r>
            <a:r>
              <a:rPr lang="en-US" sz="1200" b="0" kern="1200" dirty="0">
                <a:solidFill>
                  <a:schemeClr val="tx1"/>
                </a:solidFill>
                <a:effectLst/>
                <a:latin typeface="+mn-lt"/>
                <a:ea typeface="+mn-ea"/>
                <a:cs typeface="+mn-cs"/>
              </a:rPr>
              <a:t> | A </a:t>
            </a:r>
            <a:r>
              <a:rPr lang="en-US" sz="1200" b="1" kern="1200" dirty="0">
                <a:solidFill>
                  <a:schemeClr val="tx1"/>
                </a:solidFill>
                <a:effectLst/>
                <a:latin typeface="+mn-lt"/>
                <a:ea typeface="+mn-ea"/>
                <a:cs typeface="+mn-cs"/>
              </a:rPr>
              <a:t>**scope**</a:t>
            </a:r>
            <a:r>
              <a:rPr lang="en-US" sz="1200" b="0" kern="1200" dirty="0">
                <a:solidFill>
                  <a:schemeClr val="tx1"/>
                </a:solidFill>
                <a:effectLst/>
                <a:latin typeface="+mn-lt"/>
                <a:ea typeface="+mn-ea"/>
                <a:cs typeface="+mn-cs"/>
              </a:rPr>
              <a:t> problem fails the run outright — nothing can be trusted. A </a:t>
            </a:r>
            <a:r>
              <a:rPr lang="en-US" sz="1200" b="1" kern="1200" dirty="0">
                <a:solidFill>
                  <a:schemeClr val="tx1"/>
                </a:solidFill>
                <a:effectLst/>
                <a:latin typeface="+mn-lt"/>
                <a:ea typeface="+mn-ea"/>
                <a:cs typeface="+mn-cs"/>
              </a:rPr>
              <a:t>**per-OU**</a:t>
            </a:r>
            <a:r>
              <a:rPr lang="en-US" sz="1200" b="0" kern="1200" dirty="0">
                <a:solidFill>
                  <a:schemeClr val="tx1"/>
                </a:solidFill>
                <a:effectLst/>
                <a:latin typeface="+mn-lt"/>
                <a:ea typeface="+mn-ea"/>
                <a:cs typeface="+mn-cs"/>
              </a:rPr>
              <a:t> problem completes with errors and still delivers a report that names what is missing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**Expect counts to drop slightly on the first run**</a:t>
            </a:r>
            <a:r>
              <a:rPr lang="en-US" sz="1200" b="0" kern="1200" dirty="0">
                <a:solidFill>
                  <a:schemeClr val="tx1"/>
                </a:solidFill>
                <a:effectLst/>
                <a:latin typeface="+mn-lt"/>
                <a:ea typeface="+mn-ea"/>
                <a:cs typeface="+mn-cs"/>
              </a:rPr>
              <a:t> if the OU list overlaps. That is the</a:t>
            </a:r>
          </a:p>
          <a:p>
            <a:r>
              <a:rPr lang="en-US" sz="1200" b="0" kern="1200" dirty="0">
                <a:solidFill>
                  <a:schemeClr val="tx1"/>
                </a:solidFill>
                <a:effectLst/>
                <a:latin typeface="+mn-lt"/>
                <a:ea typeface="+mn-ea"/>
                <a:cs typeface="+mn-cs"/>
              </a:rPr>
              <a:t>de-duplication correcting an inflated figure — not a regression.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What was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One Ansible job template reporting on service accounts in an OU, so accounts approaching</a:t>
            </a:r>
          </a:p>
          <a:p>
            <a:r>
              <a:rPr lang="en-US" sz="1200" b="0" kern="1200" dirty="0">
                <a:solidFill>
                  <a:schemeClr val="tx1"/>
                </a:solidFill>
                <a:effectLst/>
                <a:latin typeface="+mn-lt"/>
                <a:ea typeface="+mn-ea"/>
                <a:cs typeface="+mn-cs"/>
              </a:rPr>
              <a:t>expiry get renewed before the services depending on them stop working.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**What was wrong with it — and this is the strongest single item in the programme.**</a:t>
            </a:r>
            <a:r>
              <a:rPr lang="en-US" sz="1200" b="0" kern="1200" dirty="0">
                <a:solidFill>
                  <a:schemeClr val="tx1"/>
                </a:solidFill>
                <a:effectLst/>
                <a:latin typeface="+mn-lt"/>
                <a:ea typeface="+mn-ea"/>
                <a:cs typeface="+mn-cs"/>
              </a:rPr>
              <a:t> Four</a:t>
            </a:r>
          </a:p>
          <a:p>
            <a:r>
              <a:rPr lang="en-US" sz="1200" b="0" kern="1200" dirty="0">
                <a:solidFill>
                  <a:schemeClr val="tx1"/>
                </a:solidFill>
                <a:effectLst/>
                <a:latin typeface="+mn-lt"/>
                <a:ea typeface="+mn-ea"/>
                <a:cs typeface="+mn-cs"/>
              </a:rPr>
              <a:t>defects, all silent, every run reporting success. **Three of them mean the report the</a:t>
            </a:r>
          </a:p>
          <a:p>
            <a:r>
              <a:rPr lang="en-US" sz="1200" b="0" kern="1200" dirty="0">
                <a:solidFill>
                  <a:schemeClr val="tx1"/>
                </a:solidFill>
                <a:effectLst/>
                <a:latin typeface="+mn-lt"/>
                <a:ea typeface="+mn-ea"/>
                <a:cs typeface="+mn-cs"/>
              </a:rPr>
              <a:t>customer receives today is not the report they believe they are receiving:**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 | Defect | Consequence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**1**</a:t>
            </a:r>
            <a:r>
              <a:rPr lang="en-US" sz="1200" b="0" kern="1200" dirty="0">
                <a:solidFill>
                  <a:schemeClr val="tx1"/>
                </a:solidFill>
                <a:effectLst/>
                <a:latin typeface="+mn-lt"/>
                <a:ea typeface="+mn-ea"/>
                <a:cs typeface="+mn-cs"/>
              </a:rPr>
              <a:t> | An </a:t>
            </a:r>
            <a:r>
              <a:rPr lang="en-US" sz="1200" b="1" kern="1200" dirty="0">
                <a:solidFill>
                  <a:schemeClr val="tx1"/>
                </a:solidFill>
                <a:effectLst/>
                <a:latin typeface="+mn-lt"/>
                <a:ea typeface="+mn-ea"/>
                <a:cs typeface="+mn-cs"/>
              </a:rPr>
              <a:t>**omitted parameter**</a:t>
            </a:r>
            <a:r>
              <a:rPr lang="en-US" sz="1200" b="0" kern="1200" dirty="0">
                <a:solidFill>
                  <a:schemeClr val="tx1"/>
                </a:solidFill>
                <a:effectLst/>
                <a:latin typeface="+mn-lt"/>
                <a:ea typeface="+mn-ea"/>
                <a:cs typeface="+mn-cs"/>
              </a:rPr>
              <a:t>. Because it was declared as a boolean, omitting it bound it to `false` rather than leaving it unset — which also made the intended "return everything" branch beneath it </a:t>
            </a:r>
            <a:r>
              <a:rPr lang="en-US" sz="1200" b="1" kern="1200" dirty="0">
                <a:solidFill>
                  <a:schemeClr val="tx1"/>
                </a:solidFill>
                <a:effectLst/>
                <a:latin typeface="+mn-lt"/>
                <a:ea typeface="+mn-ea"/>
                <a:cs typeface="+mn-cs"/>
              </a:rPr>
              <a:t>**unreachable dead code**</a:t>
            </a:r>
            <a:r>
              <a:rPr lang="en-US" sz="1200" b="0" kern="1200" dirty="0">
                <a:solidFill>
                  <a:schemeClr val="tx1"/>
                </a:solidFill>
                <a:effectLst/>
                <a:latin typeface="+mn-lt"/>
                <a:ea typeface="+mn-ea"/>
                <a:cs typeface="+mn-cs"/>
              </a:rPr>
              <a:t>. Every run silently queried only accounts </a:t>
            </a:r>
            <a:r>
              <a:rPr lang="en-US" sz="1200" b="0" i="1" kern="1200" dirty="0">
                <a:solidFill>
                  <a:schemeClr val="tx1"/>
                </a:solidFill>
                <a:effectLst/>
                <a:latin typeface="+mn-lt"/>
                <a:ea typeface="+mn-ea"/>
                <a:cs typeface="+mn-cs"/>
              </a:rPr>
              <a:t>*not*</a:t>
            </a:r>
            <a:r>
              <a:rPr lang="en-US" sz="1200" b="0" kern="1200" dirty="0">
                <a:solidFill>
                  <a:schemeClr val="tx1"/>
                </a:solidFill>
                <a:effectLst/>
                <a:latin typeface="+mn-lt"/>
                <a:ea typeface="+mn-ea"/>
                <a:cs typeface="+mn-cs"/>
              </a:rPr>
              <a:t> requiring a smart card | </a:t>
            </a:r>
            <a:r>
              <a:rPr lang="en-US" sz="1200" b="1" kern="1200" dirty="0">
                <a:solidFill>
                  <a:schemeClr val="tx1"/>
                </a:solidFill>
                <a:effectLst/>
                <a:latin typeface="+mn-lt"/>
                <a:ea typeface="+mn-ea"/>
                <a:cs typeface="+mn-cs"/>
              </a:rPr>
              <a:t>**Any service account requiring a smart card has been missing from every report ever produced.**</a:t>
            </a:r>
            <a:r>
              <a:rPr lang="en-US" sz="1200" b="0" kern="1200" dirty="0">
                <a:solidFill>
                  <a:schemeClr val="tx1"/>
                </a:solidFill>
                <a:effectLst/>
                <a:latin typeface="+mn-lt"/>
                <a:ea typeface="+mn-ea"/>
                <a:cs typeface="+mn-cs"/>
              </a:rPr>
              <a:t> Nothing in the output indicated a filter had been applied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**2**</a:t>
            </a:r>
            <a:r>
              <a:rPr lang="en-US" sz="1200" b="0" kern="1200" dirty="0">
                <a:solidFill>
                  <a:schemeClr val="tx1"/>
                </a:solidFill>
                <a:effectLst/>
                <a:latin typeface="+mn-lt"/>
                <a:ea typeface="+mn-ea"/>
                <a:cs typeface="+mn-cs"/>
              </a:rPr>
              <a:t> | The expiration date was queried, then </a:t>
            </a:r>
            <a:r>
              <a:rPr lang="en-US" sz="1200" b="1" kern="1200" dirty="0">
                <a:solidFill>
                  <a:schemeClr val="tx1"/>
                </a:solidFill>
                <a:effectLst/>
                <a:latin typeface="+mn-lt"/>
                <a:ea typeface="+mn-ea"/>
                <a:cs typeface="+mn-cs"/>
              </a:rPr>
              <a:t>**omitted from the column list**</a:t>
            </a:r>
            <a:r>
              <a:rPr lang="en-US" sz="1200" b="0" kern="1200" dirty="0">
                <a:solidFill>
                  <a:schemeClr val="tx1"/>
                </a:solidFill>
                <a:effectLst/>
                <a:latin typeface="+mn-lt"/>
                <a:ea typeface="+mn-ea"/>
                <a:cs typeface="+mn-cs"/>
              </a:rPr>
              <a:t> | A report titled </a:t>
            </a:r>
            <a:r>
              <a:rPr lang="en-US" sz="1200" b="0" i="1" kern="1200" dirty="0">
                <a:solidFill>
                  <a:schemeClr val="tx1"/>
                </a:solidFill>
                <a:effectLst/>
                <a:latin typeface="+mn-lt"/>
                <a:ea typeface="+mn-ea"/>
                <a:cs typeface="+mn-cs"/>
              </a:rPr>
              <a:t>*"Service Account Expiration"*</a:t>
            </a:r>
            <a:r>
              <a:rPr lang="en-US" sz="1200" b="0" kern="1200" dirty="0">
                <a:solidFill>
                  <a:schemeClr val="tx1"/>
                </a:solidFill>
                <a:effectLst/>
                <a:latin typeface="+mn-lt"/>
                <a:ea typeface="+mn-ea"/>
                <a:cs typeface="+mn-cs"/>
              </a:rPr>
              <a:t> that showed </a:t>
            </a:r>
            <a:r>
              <a:rPr lang="en-US" sz="1200" b="1" kern="1200" dirty="0">
                <a:solidFill>
                  <a:schemeClr val="tx1"/>
                </a:solidFill>
                <a:effectLst/>
                <a:latin typeface="+mn-lt"/>
                <a:ea typeface="+mn-ea"/>
                <a:cs typeface="+mn-cs"/>
              </a:rPr>
              <a:t>**password age and no expiry date**</a:t>
            </a:r>
            <a:r>
              <a:rPr lang="en-US" sz="1200" b="0" kern="1200" dirty="0">
                <a:solidFill>
                  <a:schemeClr val="tx1"/>
                </a:solidFill>
                <a:effectLst/>
                <a:latin typeface="+mn-lt"/>
                <a:ea typeface="+mn-ea"/>
                <a:cs typeface="+mn-cs"/>
              </a:rPr>
              <a:t>. The one fact it exists to convey was absent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**3**</a:t>
            </a:r>
            <a:r>
              <a:rPr lang="en-US" sz="1200" b="0" kern="1200" dirty="0">
                <a:solidFill>
                  <a:schemeClr val="tx1"/>
                </a:solidFill>
                <a:effectLst/>
                <a:latin typeface="+mn-lt"/>
                <a:ea typeface="+mn-ea"/>
                <a:cs typeface="+mn-cs"/>
              </a:rPr>
              <a:t> | A password that had </a:t>
            </a:r>
            <a:r>
              <a:rPr lang="en-US" sz="1200" b="1" kern="1200" dirty="0">
                <a:solidFill>
                  <a:schemeClr val="tx1"/>
                </a:solidFill>
                <a:effectLst/>
                <a:latin typeface="+mn-lt"/>
                <a:ea typeface="+mn-ea"/>
                <a:cs typeface="+mn-cs"/>
              </a:rPr>
              <a:t>**never been set**</a:t>
            </a:r>
            <a:r>
              <a:rPr lang="en-US" sz="1200" b="0" kern="1200" dirty="0">
                <a:solidFill>
                  <a:schemeClr val="tx1"/>
                </a:solidFill>
                <a:effectLst/>
                <a:latin typeface="+mn-lt"/>
                <a:ea typeface="+mn-ea"/>
                <a:cs typeface="+mn-cs"/>
              </a:rPr>
              <a:t> was reported as an age of `0` | The accounts most in need of attention rendered identically to the healthiest ones — and sorted to the </a:t>
            </a:r>
            <a:r>
              <a:rPr lang="en-US" sz="1200" b="1" kern="1200" dirty="0">
                <a:solidFill>
                  <a:schemeClr val="tx1"/>
                </a:solidFill>
                <a:effectLst/>
                <a:latin typeface="+mn-lt"/>
                <a:ea typeface="+mn-ea"/>
                <a:cs typeface="+mn-cs"/>
              </a:rPr>
              <a:t>**bottom**</a:t>
            </a:r>
            <a:r>
              <a:rPr lang="en-US" sz="1200" b="0" kern="1200" dirty="0">
                <a:solidFill>
                  <a:schemeClr val="tx1"/>
                </a:solidFill>
                <a:effectLst/>
                <a:latin typeface="+mn-lt"/>
                <a:ea typeface="+mn-ea"/>
                <a:cs typeface="+mn-cs"/>
              </a:rPr>
              <a:t> of a report ordered by age descending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**4**</a:t>
            </a:r>
            <a:r>
              <a:rPr lang="en-US" sz="1200" b="0" kern="1200" dirty="0">
                <a:solidFill>
                  <a:schemeClr val="tx1"/>
                </a:solidFill>
                <a:effectLst/>
                <a:latin typeface="+mn-lt"/>
                <a:ea typeface="+mn-ea"/>
                <a:cs typeface="+mn-cs"/>
              </a:rPr>
              <a:t> | An unassigned variable appended to the results — copy-paste residue from the admin-accounts report | A blank row on every report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Plus the same resilience gaps closed elsewhere: no error handling on the query (an empty</a:t>
            </a:r>
          </a:p>
          <a:p>
            <a:r>
              <a:rPr lang="en-US" sz="1200" b="0" kern="1200" dirty="0">
                <a:solidFill>
                  <a:schemeClr val="tx1"/>
                </a:solidFill>
                <a:effectLst/>
                <a:latin typeface="+mn-lt"/>
                <a:ea typeface="+mn-ea"/>
                <a:cs typeface="+mn-cs"/>
              </a:rPr>
              <a:t>report emailed as a success); a module guard that logged an error and </a:t>
            </a:r>
            <a:r>
              <a:rPr lang="en-US" sz="1200" b="1" kern="1200" dirty="0">
                <a:solidFill>
                  <a:schemeClr val="tx1"/>
                </a:solidFill>
                <a:effectLst/>
                <a:latin typeface="+mn-lt"/>
                <a:ea typeface="+mn-ea"/>
                <a:cs typeface="+mn-cs"/>
              </a:rPr>
              <a:t>**fell through**</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sending nothing at all; an appending report file growing without bound; and a log line that</a:t>
            </a:r>
          </a:p>
          <a:p>
            <a:r>
              <a:rPr lang="en-US" sz="1200" b="0" kern="1200" dirty="0">
                <a:solidFill>
                  <a:schemeClr val="tx1"/>
                </a:solidFill>
                <a:effectLst/>
                <a:latin typeface="+mn-lt"/>
                <a:ea typeface="+mn-ea"/>
                <a:cs typeface="+mn-cs"/>
              </a:rPr>
              <a:t>wrote the </a:t>
            </a:r>
            <a:r>
              <a:rPr lang="en-US" sz="1200" b="1" kern="1200" dirty="0">
                <a:solidFill>
                  <a:schemeClr val="tx1"/>
                </a:solidFill>
                <a:effectLst/>
                <a:latin typeface="+mn-lt"/>
                <a:ea typeface="+mn-ea"/>
                <a:cs typeface="+mn-cs"/>
              </a:rPr>
              <a:t>**entire HTML body**</a:t>
            </a:r>
            <a:r>
              <a:rPr lang="en-US" sz="1200" b="0" kern="1200" dirty="0">
                <a:solidFill>
                  <a:schemeClr val="tx1"/>
                </a:solidFill>
                <a:effectLst/>
                <a:latin typeface="+mn-lt"/>
                <a:ea typeface="+mn-ea"/>
                <a:cs typeface="+mn-cs"/>
              </a:rPr>
              <a:t> to the very stream the run is classified on — burying the</a:t>
            </a:r>
          </a:p>
          <a:p>
            <a:r>
              <a:rPr lang="en-US" sz="1200" b="0" kern="1200" dirty="0">
                <a:solidFill>
                  <a:schemeClr val="tx1"/>
                </a:solidFill>
                <a:effectLst/>
                <a:latin typeface="+mn-lt"/>
                <a:ea typeface="+mn-ea"/>
                <a:cs typeface="+mn-cs"/>
              </a:rPr>
              <a:t>error lines the run is judged by.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What is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**One workflow — </a:t>
            </a:r>
            <a:r>
              <a:rPr lang="en-US" sz="1200" b="0" i="1" kern="1200" dirty="0">
                <a:solidFill>
                  <a:schemeClr val="tx1"/>
                </a:solidFill>
                <a:effectLst/>
                <a:latin typeface="+mn-lt"/>
                <a:ea typeface="+mn-ea"/>
                <a:cs typeface="+mn-cs"/>
              </a:rPr>
              <a:t>*Get-</a:t>
            </a:r>
            <a:r>
              <a:rPr lang="en-US" sz="1200" b="0" i="1" kern="1200" dirty="0" err="1">
                <a:solidFill>
                  <a:schemeClr val="tx1"/>
                </a:solidFill>
                <a:effectLst/>
                <a:latin typeface="+mn-lt"/>
                <a:ea typeface="+mn-ea"/>
                <a:cs typeface="+mn-cs"/>
              </a:rPr>
              <a:t>ServiceAccountExpirationReport</a:t>
            </a:r>
            <a:r>
              <a:rPr lang="en-US" sz="1200" b="0" i="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Read-only: it reports on accounts,</a:t>
            </a:r>
          </a:p>
          <a:p>
            <a:r>
              <a:rPr lang="en-US" sz="1200" b="0" kern="1200" dirty="0">
                <a:solidFill>
                  <a:schemeClr val="tx1"/>
                </a:solidFill>
                <a:effectLst/>
                <a:latin typeface="+mn-lt"/>
                <a:ea typeface="+mn-ea"/>
                <a:cs typeface="+mn-cs"/>
              </a:rPr>
              <a:t>it never renews, extends, disables or deletes one.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Enhancement | What it fixes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report finally reports expiration**</a:t>
            </a:r>
            <a:r>
              <a:rPr lang="en-US" sz="1200" b="0" kern="1200" dirty="0">
                <a:solidFill>
                  <a:schemeClr val="tx1"/>
                </a:solidFill>
                <a:effectLst/>
                <a:latin typeface="+mn-lt"/>
                <a:ea typeface="+mn-ea"/>
                <a:cs typeface="+mn-cs"/>
              </a:rPr>
              <a:t> | `Expires on` and `Days to expiry` columns, with each account classified </a:t>
            </a:r>
            <a:r>
              <a:rPr lang="en-US" sz="1200" b="1" kern="1200" dirty="0">
                <a:solidFill>
                  <a:schemeClr val="tx1"/>
                </a:solidFill>
                <a:effectLst/>
                <a:latin typeface="+mn-lt"/>
                <a:ea typeface="+mn-ea"/>
                <a:cs typeface="+mn-cs"/>
              </a:rPr>
              <a:t>**Expired / Expiring / Active / Never expires**</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**Complete scope**</a:t>
            </a:r>
            <a:r>
              <a:rPr lang="en-US" sz="1200" b="0" kern="1200" dirty="0">
                <a:solidFill>
                  <a:schemeClr val="tx1"/>
                </a:solidFill>
                <a:effectLst/>
                <a:latin typeface="+mn-lt"/>
                <a:ea typeface="+mn-ea"/>
                <a:cs typeface="+mn-cs"/>
              </a:rPr>
              <a:t> | Smart-card-requiring accounts are no longer silently excluded. The fix is structural — the replacement query path cannot be defaulted into a filter the way the old one was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**New capability: a look-ahead window**</a:t>
            </a:r>
            <a:r>
              <a:rPr lang="en-US" sz="1200" b="0" kern="1200" dirty="0">
                <a:solidFill>
                  <a:schemeClr val="tx1"/>
                </a:solidFill>
                <a:effectLst/>
                <a:latin typeface="+mn-lt"/>
                <a:ea typeface="+mn-ea"/>
                <a:cs typeface="+mn-cs"/>
              </a:rPr>
              <a:t> | Configurable (default 30 days), driving an </a:t>
            </a:r>
            <a:r>
              <a:rPr lang="en-US" sz="1200" b="1" kern="1200" dirty="0">
                <a:solidFill>
                  <a:schemeClr val="tx1"/>
                </a:solidFill>
                <a:effectLst/>
                <a:latin typeface="+mn-lt"/>
                <a:ea typeface="+mn-ea"/>
                <a:cs typeface="+mn-cs"/>
              </a:rPr>
              <a:t>**Action required**</a:t>
            </a:r>
            <a:r>
              <a:rPr lang="en-US" sz="1200" b="0" kern="1200" dirty="0">
                <a:solidFill>
                  <a:schemeClr val="tx1"/>
                </a:solidFill>
                <a:effectLst/>
                <a:latin typeface="+mn-lt"/>
                <a:ea typeface="+mn-ea"/>
                <a:cs typeface="+mn-cs"/>
              </a:rPr>
              <a:t> block and the subject-line counts. It does </a:t>
            </a:r>
            <a:r>
              <a:rPr lang="en-US" sz="1200" b="1" kern="1200" dirty="0">
                <a:solidFill>
                  <a:schemeClr val="tx1"/>
                </a:solidFill>
                <a:effectLst/>
                <a:latin typeface="+mn-lt"/>
                <a:ea typeface="+mn-ea"/>
                <a:cs typeface="+mn-cs"/>
              </a:rPr>
              <a:t>**not**</a:t>
            </a:r>
            <a:r>
              <a:rPr lang="en-US" sz="1200" b="0" kern="1200" dirty="0">
                <a:solidFill>
                  <a:schemeClr val="tx1"/>
                </a:solidFill>
                <a:effectLst/>
                <a:latin typeface="+mn-lt"/>
                <a:ea typeface="+mn-ea"/>
                <a:cs typeface="+mn-cs"/>
              </a:rPr>
              <a:t> filter the report — the full inventory is always present — and it does </a:t>
            </a:r>
            <a:r>
              <a:rPr lang="en-US" sz="1200" b="1" kern="1200" dirty="0">
                <a:solidFill>
                  <a:schemeClr val="tx1"/>
                </a:solidFill>
                <a:effectLst/>
                <a:latin typeface="+mn-lt"/>
                <a:ea typeface="+mn-ea"/>
                <a:cs typeface="+mn-cs"/>
              </a:rPr>
              <a:t>**not**</a:t>
            </a:r>
            <a:r>
              <a:rPr lang="en-US" sz="1200" b="0" kern="1200" dirty="0">
                <a:solidFill>
                  <a:schemeClr val="tx1"/>
                </a:solidFill>
                <a:effectLst/>
                <a:latin typeface="+mn-lt"/>
                <a:ea typeface="+mn-ea"/>
                <a:cs typeface="+mn-cs"/>
              </a:rPr>
              <a:t> affect expired accounts. It rounds toward warning </a:t>
            </a:r>
            <a:r>
              <a:rPr lang="en-US" sz="1200" b="0" i="1" kern="1200" dirty="0">
                <a:solidFill>
                  <a:schemeClr val="tx1"/>
                </a:solidFill>
                <a:effectLst/>
                <a:latin typeface="+mn-lt"/>
                <a:ea typeface="+mn-ea"/>
                <a:cs typeface="+mn-cs"/>
              </a:rPr>
              <a:t>*early*</a:t>
            </a:r>
            <a:r>
              <a:rPr lang="en-US" sz="1200" b="0" kern="1200" dirty="0">
                <a:solidFill>
                  <a:schemeClr val="tx1"/>
                </a:solidFill>
                <a:effectLst/>
                <a:latin typeface="+mn-lt"/>
                <a:ea typeface="+mn-ea"/>
                <a:cs typeface="+mn-cs"/>
              </a:rPr>
              <a:t>, because warning one scheduled run </a:t>
            </a:r>
            <a:r>
              <a:rPr lang="en-US" sz="1200" b="1" kern="1200" dirty="0">
                <a:solidFill>
                  <a:schemeClr val="tx1"/>
                </a:solidFill>
                <a:effectLst/>
                <a:latin typeface="+mn-lt"/>
                <a:ea typeface="+mn-ea"/>
                <a:cs typeface="+mn-cs"/>
              </a:rPr>
              <a:t>**late**</a:t>
            </a:r>
            <a:r>
              <a:rPr lang="en-US" sz="1200" b="0" kern="1200" dirty="0">
                <a:solidFill>
                  <a:schemeClr val="tx1"/>
                </a:solidFill>
                <a:effectLst/>
                <a:latin typeface="+mn-lt"/>
                <a:ea typeface="+mn-ea"/>
                <a:cs typeface="+mn-cs"/>
              </a:rPr>
              <a:t> is the failure mode that matters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**Actionable from the inbox**</a:t>
            </a:r>
            <a:r>
              <a:rPr lang="en-US" sz="1200" b="0" kern="1200" dirty="0">
                <a:solidFill>
                  <a:schemeClr val="tx1"/>
                </a:solidFill>
                <a:effectLst/>
                <a:latin typeface="+mn-lt"/>
                <a:ea typeface="+mn-ea"/>
                <a:cs typeface="+mn-cs"/>
              </a:rPr>
              <a:t> | Expired and expiring accounts lifted </a:t>
            </a:r>
            <a:r>
              <a:rPr lang="en-US" sz="1200" b="1" kern="1200" dirty="0">
                <a:solidFill>
                  <a:schemeClr val="tx1"/>
                </a:solidFill>
                <a:effectLst/>
                <a:latin typeface="+mn-lt"/>
                <a:ea typeface="+mn-ea"/>
                <a:cs typeface="+mn-cs"/>
              </a:rPr>
              <a:t>**above**</a:t>
            </a:r>
            <a:r>
              <a:rPr lang="en-US" sz="1200" b="0" kern="1200" dirty="0">
                <a:solidFill>
                  <a:schemeClr val="tx1"/>
                </a:solidFill>
                <a:effectLst/>
                <a:latin typeface="+mn-lt"/>
                <a:ea typeface="+mn-ea"/>
                <a:cs typeface="+mn-cs"/>
              </a:rPr>
              <a:t> the inventory, worst first, with the counts in the subject line. A scheduled report can be triaged without opening it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trustworthy empty report**</a:t>
            </a:r>
            <a:r>
              <a:rPr lang="en-US" sz="1200" b="0" kern="1200" dirty="0">
                <a:solidFill>
                  <a:schemeClr val="tx1"/>
                </a:solidFill>
                <a:effectLst/>
                <a:latin typeface="+mn-lt"/>
                <a:ea typeface="+mn-ea"/>
                <a:cs typeface="+mn-cs"/>
              </a:rPr>
              <a:t> | "Nothing is expiring" and "the query never ran" are now distinguishable. They were previously identical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**Correct password-hygiene signal**</a:t>
            </a:r>
            <a:r>
              <a:rPr lang="en-US" sz="1200" b="0" kern="1200" dirty="0">
                <a:solidFill>
                  <a:schemeClr val="tx1"/>
                </a:solidFill>
                <a:effectLst/>
                <a:latin typeface="+mn-lt"/>
                <a:ea typeface="+mn-ea"/>
                <a:cs typeface="+mn-cs"/>
              </a:rPr>
              <a:t> | "Never set" reads as </a:t>
            </a:r>
            <a:r>
              <a:rPr lang="en-US" sz="1200" b="1" kern="1200" dirty="0">
                <a:solidFill>
                  <a:schemeClr val="tx1"/>
                </a:solidFill>
                <a:effectLst/>
                <a:latin typeface="+mn-lt"/>
                <a:ea typeface="+mn-ea"/>
                <a:cs typeface="+mn-cs"/>
              </a:rPr>
              <a:t>**"Never set"**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coloured</a:t>
            </a:r>
            <a:r>
              <a:rPr lang="en-US" sz="1200" b="0" kern="1200" dirty="0">
                <a:solidFill>
                  <a:schemeClr val="tx1"/>
                </a:solidFill>
                <a:effectLst/>
                <a:latin typeface="+mn-lt"/>
                <a:ea typeface="+mn-ea"/>
                <a:cs typeface="+mn-cs"/>
              </a:rPr>
              <a:t>, sorted to the </a:t>
            </a:r>
            <a:r>
              <a:rPr lang="en-US" sz="1200" b="1" kern="1200" dirty="0">
                <a:solidFill>
                  <a:schemeClr val="tx1"/>
                </a:solidFill>
                <a:effectLst/>
                <a:latin typeface="+mn-lt"/>
                <a:ea typeface="+mn-ea"/>
                <a:cs typeface="+mn-cs"/>
              </a:rPr>
              <a:t>**top**</a:t>
            </a:r>
            <a:r>
              <a:rPr lang="en-US" sz="1200" b="0" kern="1200" dirty="0">
                <a:solidFill>
                  <a:schemeClr val="tx1"/>
                </a:solidFill>
                <a:effectLst/>
                <a:latin typeface="+mn-lt"/>
                <a:ea typeface="+mn-ea"/>
                <a:cs typeface="+mn-cs"/>
              </a:rPr>
              <a:t> of its group — not as an age of zero at the bottom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**Same failure visibility and classification as the Admin Accounts Report**</a:t>
            </a:r>
            <a:r>
              <a:rPr lang="en-US" sz="1200" b="0" kern="1200" dirty="0">
                <a:solidFill>
                  <a:schemeClr val="tx1"/>
                </a:solidFill>
                <a:effectLst/>
                <a:latin typeface="+mn-lt"/>
                <a:ea typeface="+mn-ea"/>
                <a:cs typeface="+mn-cs"/>
              </a:rPr>
              <a:t> | Banner, per-OU flag, `[INCOMPLETE]` subject prefix, </a:t>
            </a:r>
            <a:r>
              <a:rPr lang="en-US" sz="1200" b="0" kern="1200" dirty="0" err="1">
                <a:solidFill>
                  <a:schemeClr val="tx1"/>
                </a:solidFill>
                <a:effectLst/>
                <a:latin typeface="+mn-lt"/>
                <a:ea typeface="+mn-ea"/>
                <a:cs typeface="+mn-cs"/>
              </a:rPr>
              <a:t>categorised</a:t>
            </a:r>
            <a:r>
              <a:rPr lang="en-US" sz="1200" b="0" kern="1200" dirty="0">
                <a:solidFill>
                  <a:schemeClr val="tx1"/>
                </a:solidFill>
                <a:effectLst/>
                <a:latin typeface="+mn-lt"/>
                <a:ea typeface="+mn-ea"/>
                <a:cs typeface="+mn-cs"/>
              </a:rPr>
              <a:t> failures with remediation guidance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**Operational hygiene**</a:t>
            </a:r>
            <a:r>
              <a:rPr lang="en-US" sz="1200" b="0" kern="1200" dirty="0">
                <a:solidFill>
                  <a:schemeClr val="tx1"/>
                </a:solidFill>
                <a:effectLst/>
                <a:latin typeface="+mn-lt"/>
                <a:ea typeface="+mn-ea"/>
                <a:cs typeface="+mn-cs"/>
              </a:rPr>
              <a:t> | Report file overwritten rather than appended; a one-line log summary instead of the whole HTML body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**Consistency point worth making out loud:**</a:t>
            </a:r>
            <a:r>
              <a:rPr lang="en-US" sz="1200" b="0" kern="1200" dirty="0">
                <a:solidFill>
                  <a:schemeClr val="tx1"/>
                </a:solidFill>
                <a:effectLst/>
                <a:latin typeface="+mn-lt"/>
                <a:ea typeface="+mn-ea"/>
                <a:cs typeface="+mn-cs"/>
              </a:rPr>
              <a:t> this deliverable **reuses the shared functions</a:t>
            </a:r>
          </a:p>
          <a:p>
            <a:r>
              <a:rPr lang="en-US" sz="1200" b="0" kern="1200" dirty="0">
                <a:solidFill>
                  <a:schemeClr val="tx1"/>
                </a:solidFill>
                <a:effectLst/>
                <a:latin typeface="+mn-lt"/>
                <a:ea typeface="+mn-ea"/>
                <a:cs typeface="+mn-cs"/>
              </a:rPr>
              <a:t>built for the Admin Accounts Report**. The two reports look and behave like one product, and</a:t>
            </a:r>
          </a:p>
          <a:p>
            <a:r>
              <a:rPr lang="en-US" sz="1200" b="0" kern="1200" dirty="0">
                <a:solidFill>
                  <a:schemeClr val="tx1"/>
                </a:solidFill>
                <a:effectLst/>
                <a:latin typeface="+mn-lt"/>
                <a:ea typeface="+mn-ea"/>
                <a:cs typeface="+mn-cs"/>
              </a:rPr>
              <a:t>the second was substantially cheaper to build because of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What was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**Seven**</a:t>
            </a:r>
            <a:r>
              <a:rPr lang="en-US" sz="1200" b="0" kern="1200" dirty="0">
                <a:solidFill>
                  <a:schemeClr val="tx1"/>
                </a:solidFill>
                <a:effectLst/>
                <a:latin typeface="+mn-lt"/>
                <a:ea typeface="+mn-ea"/>
                <a:cs typeface="+mn-cs"/>
              </a:rPr>
              <a:t> Ansible playbooks moving Windows event-log archives off servers to a central</a:t>
            </a:r>
          </a:p>
          <a:p>
            <a:r>
              <a:rPr lang="en-US" sz="1200" b="0" kern="1200" dirty="0">
                <a:solidFill>
                  <a:schemeClr val="tx1"/>
                </a:solidFill>
                <a:effectLst/>
                <a:latin typeface="+mn-lt"/>
                <a:ea typeface="+mn-ea"/>
                <a:cs typeface="+mn-cs"/>
              </a:rPr>
              <a:t>archive share, plus cleaning that share down.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**What was wrong with it:**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"safe preview" mode did not work.**</a:t>
            </a:r>
            <a:r>
              <a:rPr lang="en-US" sz="1200" b="0" kern="1200" dirty="0">
                <a:solidFill>
                  <a:schemeClr val="tx1"/>
                </a:solidFill>
                <a:effectLst/>
                <a:latin typeface="+mn-lt"/>
                <a:ea typeface="+mn-ea"/>
                <a:cs typeface="+mn-cs"/>
              </a:rPr>
              <a:t> The cleanup routine asked for interactive</a:t>
            </a:r>
          </a:p>
          <a:p>
            <a:r>
              <a:rPr lang="en-US" sz="1200" b="0" kern="1200" dirty="0">
                <a:solidFill>
                  <a:schemeClr val="tx1"/>
                </a:solidFill>
                <a:effectLst/>
                <a:latin typeface="+mn-lt"/>
                <a:ea typeface="+mn-ea"/>
                <a:cs typeface="+mn-cs"/>
              </a:rPr>
              <a:t>  confirmation at the keyboard — in a context where nothing is at a keyboard. The preview</a:t>
            </a:r>
          </a:p>
          <a:p>
            <a:r>
              <a:rPr lang="en-US" sz="1200" b="0" kern="1200" dirty="0">
                <a:solidFill>
                  <a:schemeClr val="tx1"/>
                </a:solidFill>
                <a:effectLst/>
                <a:latin typeface="+mn-lt"/>
                <a:ea typeface="+mn-ea"/>
                <a:cs typeface="+mn-cs"/>
              </a:rPr>
              <a:t>  either blocked or silently cancelled.</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**Three near-duplicate AD-targeting variants**</a:t>
            </a:r>
            <a:r>
              <a:rPr lang="en-US" sz="1200" b="0" kern="1200" dirty="0">
                <a:solidFill>
                  <a:schemeClr val="tx1"/>
                </a:solidFill>
                <a:effectLst/>
                <a:latin typeface="+mn-lt"/>
                <a:ea typeface="+mn-ea"/>
                <a:cs typeface="+mn-cs"/>
              </a:rPr>
              <a:t>, plus a separate special case for running</a:t>
            </a:r>
          </a:p>
          <a:p>
            <a:r>
              <a:rPr lang="en-US" sz="1200" b="0" kern="1200" dirty="0">
                <a:solidFill>
                  <a:schemeClr val="tx1"/>
                </a:solidFill>
                <a:effectLst/>
                <a:latin typeface="+mn-lt"/>
                <a:ea typeface="+mn-ea"/>
                <a:cs typeface="+mn-cs"/>
              </a:rPr>
              <a:t>  on the local host.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**An unreachable source server failed invisibly**</a:t>
            </a:r>
            <a:r>
              <a:rPr lang="en-US" sz="1200" b="0" kern="1200" dirty="0">
                <a:solidFill>
                  <a:schemeClr val="tx1"/>
                </a:solidFill>
                <a:effectLst/>
                <a:latin typeface="+mn-lt"/>
                <a:ea typeface="+mn-ea"/>
                <a:cs typeface="+mn-cs"/>
              </a:rPr>
              <a:t> — no error was raised that anyone saw.</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**Disabled group members**</a:t>
            </a:r>
            <a:r>
              <a:rPr lang="en-US" sz="1200" b="0" kern="1200" dirty="0">
                <a:solidFill>
                  <a:schemeClr val="tx1"/>
                </a:solidFill>
                <a:effectLst/>
                <a:latin typeface="+mn-lt"/>
                <a:ea typeface="+mn-ea"/>
                <a:cs typeface="+mn-cs"/>
              </a:rPr>
              <a:t> were handed into the move loop and errored, one at a time.</a:t>
            </a:r>
          </a:p>
          <a:p>
            <a:r>
              <a:rPr lang="en-US" sz="1200" b="0" kern="1200" dirty="0">
                <a:solidFill>
                  <a:schemeClr val="tx1"/>
                </a:solidFill>
                <a:effectLst/>
                <a:latin typeface="+mn-lt"/>
                <a:ea typeface="+mn-ea"/>
                <a:cs typeface="+mn-cs"/>
              </a:rPr>
              <a:t>- Hardcoded file filter and age.</a:t>
            </a:r>
          </a:p>
          <a:p>
            <a:r>
              <a:rPr lang="en-US" sz="1200" b="0" kern="1200" dirty="0">
                <a:solidFill>
                  <a:schemeClr val="tx1"/>
                </a:solidFill>
                <a:effectLst/>
                <a:latin typeface="+mn-lt"/>
                <a:ea typeface="+mn-ea"/>
                <a:cs typeface="+mn-cs"/>
              </a:rPr>
              <a:t>- An orphaned, unused targeting path still in the script.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What is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**Two workflows**</a:t>
            </a:r>
            <a:r>
              <a:rPr lang="en-US" sz="1200" b="0" kern="1200" dirty="0">
                <a:solidFill>
                  <a:schemeClr val="tx1"/>
                </a:solidFill>
                <a:effectLst/>
                <a:latin typeface="+mn-lt"/>
                <a:ea typeface="+mn-ea"/>
                <a:cs typeface="+mn-cs"/>
              </a:rPr>
              <a:t>, covering the full archive lifecycle: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Workflow | What it does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**Move-</a:t>
            </a:r>
            <a:r>
              <a:rPr lang="en-US" sz="1200" b="1" kern="1200" dirty="0" err="1">
                <a:solidFill>
                  <a:schemeClr val="tx1"/>
                </a:solidFill>
                <a:effectLst/>
                <a:latin typeface="+mn-lt"/>
                <a:ea typeface="+mn-ea"/>
                <a:cs typeface="+mn-cs"/>
              </a:rPr>
              <a:t>ArchivedLogs</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ByADGroup</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Moves archived event logs off every enabled member of an AD group to a central archive share, into a per-server subfolder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**Remove-OldFiles-</a:t>
            </a:r>
            <a:r>
              <a:rPr lang="en-US" sz="1200" b="1" kern="1200" dirty="0" err="1">
                <a:solidFill>
                  <a:schemeClr val="tx1"/>
                </a:solidFill>
                <a:effectLst/>
                <a:latin typeface="+mn-lt"/>
                <a:ea typeface="+mn-ea"/>
                <a:cs typeface="+mn-cs"/>
              </a:rPr>
              <a:t>UNCShare</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Deletes files on the archive share older than a retention threshold — </a:t>
            </a:r>
            <a:r>
              <a:rPr lang="en-US" sz="1200" b="1" kern="1200" dirty="0">
                <a:solidFill>
                  <a:schemeClr val="tx1"/>
                </a:solidFill>
                <a:effectLst/>
                <a:latin typeface="+mn-lt"/>
                <a:ea typeface="+mn-ea"/>
                <a:cs typeface="+mn-cs"/>
              </a:rPr>
              <a:t>**report-only by default**</a:t>
            </a:r>
            <a:r>
              <a:rPr lang="en-US" sz="1200" b="0" kern="1200" dirty="0">
                <a:solidFill>
                  <a:schemeClr val="tx1"/>
                </a:solidFill>
                <a:effectLst/>
                <a:latin typeface="+mn-lt"/>
                <a:ea typeface="+mn-ea"/>
                <a:cs typeface="+mn-cs"/>
              </a:rPr>
              <a:t>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Enhancement | What it fixes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**Report-only mode actually works**</a:t>
            </a:r>
            <a:r>
              <a:rPr lang="en-US" sz="1200" b="0" kern="1200" dirty="0">
                <a:solidFill>
                  <a:schemeClr val="tx1"/>
                </a:solidFill>
                <a:effectLst/>
                <a:latin typeface="+mn-lt"/>
                <a:ea typeface="+mn-ea"/>
                <a:cs typeface="+mn-cs"/>
              </a:rPr>
              <a:t> | The interactive prompt is gone. The preview lists what </a:t>
            </a:r>
            <a:r>
              <a:rPr lang="en-US" sz="1200" b="0" i="1" kern="1200" dirty="0">
                <a:solidFill>
                  <a:schemeClr val="tx1"/>
                </a:solidFill>
                <a:effectLst/>
                <a:latin typeface="+mn-lt"/>
                <a:ea typeface="+mn-ea"/>
                <a:cs typeface="+mn-cs"/>
              </a:rPr>
              <a:t>*would*</a:t>
            </a:r>
            <a:r>
              <a:rPr lang="en-US" sz="1200" b="0" kern="1200" dirty="0">
                <a:solidFill>
                  <a:schemeClr val="tx1"/>
                </a:solidFill>
                <a:effectLst/>
                <a:latin typeface="+mn-lt"/>
                <a:ea typeface="+mn-ea"/>
                <a:cs typeface="+mn-cs"/>
              </a:rPr>
              <a:t> be deleted and deletes nothing — and it is the default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**One targeting method**</a:t>
            </a:r>
            <a:r>
              <a:rPr lang="en-US" sz="1200" b="0" kern="1200" dirty="0">
                <a:solidFill>
                  <a:schemeClr val="tx1"/>
                </a:solidFill>
                <a:effectLst/>
                <a:latin typeface="+mn-lt"/>
                <a:ea typeface="+mn-ea"/>
                <a:cs typeface="+mn-cs"/>
              </a:rPr>
              <a:t> | Three variants and the local-execution special case collapse into a single recursive, enabled-only resolver. The PowerShell host is now treated as an ordinary group member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**Unreachable sources are visible**</a:t>
            </a:r>
            <a:r>
              <a:rPr lang="en-US" sz="1200" b="0" kern="1200" dirty="0">
                <a:solidFill>
                  <a:schemeClr val="tx1"/>
                </a:solidFill>
                <a:effectLst/>
                <a:latin typeface="+mn-lt"/>
                <a:ea typeface="+mn-ea"/>
                <a:cs typeface="+mn-cs"/>
              </a:rPr>
              <a:t> | An unreachable server now produces a logged error line instead of failing silently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**Disabled members skipped </a:t>
            </a:r>
            <a:r>
              <a:rPr lang="en-US" sz="1200" b="0" i="1" kern="1200" dirty="0">
                <a:solidFill>
                  <a:schemeClr val="tx1"/>
                </a:solidFill>
                <a:effectLst/>
                <a:latin typeface="+mn-lt"/>
                <a:ea typeface="+mn-ea"/>
                <a:cs typeface="+mn-cs"/>
              </a:rPr>
              <a:t>*and logged*</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You can see what was excluded and why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**Resilient by design**</a:t>
            </a:r>
            <a:r>
              <a:rPr lang="en-US" sz="1200" b="0" kern="1200" dirty="0">
                <a:solidFill>
                  <a:schemeClr val="tx1"/>
                </a:solidFill>
                <a:effectLst/>
                <a:latin typeface="+mn-lt"/>
                <a:ea typeface="+mn-ea"/>
                <a:cs typeface="+mn-cs"/>
              </a:rPr>
              <a:t> | One unreachable member is logged and skipped while the remaining moves continue. Only a failure that would break </a:t>
            </a:r>
            <a:r>
              <a:rPr lang="en-US" sz="1200" b="1" kern="1200" dirty="0">
                <a:solidFill>
                  <a:schemeClr val="tx1"/>
                </a:solidFill>
                <a:effectLst/>
                <a:latin typeface="+mn-lt"/>
                <a:ea typeface="+mn-ea"/>
                <a:cs typeface="+mn-cs"/>
              </a:rPr>
              <a:t>**every**</a:t>
            </a:r>
            <a:r>
              <a:rPr lang="en-US" sz="1200" b="0" kern="1200" dirty="0">
                <a:solidFill>
                  <a:schemeClr val="tx1"/>
                </a:solidFill>
                <a:effectLst/>
                <a:latin typeface="+mn-lt"/>
                <a:ea typeface="+mn-ea"/>
                <a:cs typeface="+mn-cs"/>
              </a:rPr>
              <a:t> move fails the run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**Fully </a:t>
            </a:r>
            <a:r>
              <a:rPr lang="en-US" sz="1200" b="1" kern="1200" dirty="0" err="1">
                <a:solidFill>
                  <a:schemeClr val="tx1"/>
                </a:solidFill>
                <a:effectLst/>
                <a:latin typeface="+mn-lt"/>
                <a:ea typeface="+mn-ea"/>
                <a:cs typeface="+mn-cs"/>
              </a:rPr>
              <a:t>parameterised</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Domain, group, script path, share target, file filter and age are all inputs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What was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**Eight**</a:t>
            </a:r>
            <a:r>
              <a:rPr lang="en-US" sz="1200" b="0" kern="1200" dirty="0">
                <a:solidFill>
                  <a:schemeClr val="tx1"/>
                </a:solidFill>
                <a:effectLst/>
                <a:latin typeface="+mn-lt"/>
                <a:ea typeface="+mn-ea"/>
                <a:cs typeface="+mn-cs"/>
              </a:rPr>
              <a:t> Ansible job templates freeing disk space on Windows servers in a security group —</a:t>
            </a:r>
          </a:p>
          <a:p>
            <a:r>
              <a:rPr lang="en-US" sz="1200" b="0" kern="1200" dirty="0">
                <a:solidFill>
                  <a:schemeClr val="tx1"/>
                </a:solidFill>
                <a:effectLst/>
                <a:latin typeface="+mn-lt"/>
                <a:ea typeface="+mn-ea"/>
                <a:cs typeface="+mn-cs"/>
              </a:rPr>
              <a:t>six clearing the SCCM download cache, two clearing user profile folders. Same action, eight</a:t>
            </a:r>
          </a:p>
          <a:p>
            <a:r>
              <a:rPr lang="en-US" sz="1200" b="0" kern="1200" dirty="0">
                <a:solidFill>
                  <a:schemeClr val="tx1"/>
                </a:solidFill>
                <a:effectLst/>
                <a:latin typeface="+mn-lt"/>
                <a:ea typeface="+mn-ea"/>
                <a:cs typeface="+mn-cs"/>
              </a:rPr>
              <a:t>templates, different inputs.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**What was wrong with it:**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**No dry run. The action always deleted.**</a:t>
            </a:r>
            <a:r>
              <a:rPr lang="en-US" sz="1200" b="0" kern="1200" dirty="0">
                <a:solidFill>
                  <a:schemeClr val="tx1"/>
                </a:solidFill>
                <a:effectLst/>
                <a:latin typeface="+mn-lt"/>
                <a:ea typeface="+mn-ea"/>
                <a:cs typeface="+mn-cs"/>
              </a:rPr>
              <a:t> There was no way to preview what a run would</a:t>
            </a:r>
          </a:p>
          <a:p>
            <a:r>
              <a:rPr lang="en-US" sz="1200" b="0" kern="1200" dirty="0">
                <a:solidFill>
                  <a:schemeClr val="tx1"/>
                </a:solidFill>
                <a:effectLst/>
                <a:latin typeface="+mn-lt"/>
                <a:ea typeface="+mn-ea"/>
                <a:cs typeface="+mn-cs"/>
              </a:rPr>
              <a:t>  remove.</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**Silent failures.**</a:t>
            </a:r>
            <a:r>
              <a:rPr lang="en-US" sz="1200" b="0" kern="1200" dirty="0">
                <a:solidFill>
                  <a:schemeClr val="tx1"/>
                </a:solidFill>
                <a:effectLst/>
                <a:latin typeface="+mn-lt"/>
                <a:ea typeface="+mn-ea"/>
                <a:cs typeface="+mn-cs"/>
              </a:rPr>
              <a:t> An unreachable server or an inaccessible admin share raised a</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**non-terminating**</a:t>
            </a:r>
            <a:r>
              <a:rPr lang="en-US" sz="1200" b="0" kern="1200" dirty="0">
                <a:solidFill>
                  <a:schemeClr val="tx1"/>
                </a:solidFill>
                <a:effectLst/>
                <a:latin typeface="+mn-lt"/>
                <a:ea typeface="+mn-ea"/>
                <a:cs typeface="+mn-cs"/>
              </a:rPr>
              <a:t> error the operator never saw — </a:t>
            </a:r>
            <a:r>
              <a:rPr lang="en-US" sz="1200" b="1" kern="1200" dirty="0">
                <a:solidFill>
                  <a:schemeClr val="tx1"/>
                </a:solidFill>
                <a:effectLst/>
                <a:latin typeface="+mn-lt"/>
                <a:ea typeface="+mn-ea"/>
                <a:cs typeface="+mn-cs"/>
              </a:rPr>
              <a:t>**the run looked clean**</a:t>
            </a:r>
            <a:r>
              <a:rPr lang="en-US" sz="1200" b="0" kern="1200" dirty="0">
                <a:solidFill>
                  <a:schemeClr val="tx1"/>
                </a:solidFill>
                <a:effectLst/>
                <a:latin typeface="+mn-lt"/>
                <a:ea typeface="+mn-ea"/>
                <a:cs typeface="+mn-cs"/>
              </a:rPr>
              <a:t>. Its error</a:t>
            </a:r>
          </a:p>
          <a:p>
            <a:r>
              <a:rPr lang="en-US" sz="1200" b="0" kern="1200" dirty="0">
                <a:solidFill>
                  <a:schemeClr val="tx1"/>
                </a:solidFill>
                <a:effectLst/>
                <a:latin typeface="+mn-lt"/>
                <a:ea typeface="+mn-ea"/>
                <a:cs typeface="+mn-cs"/>
              </a:rPr>
              <a:t>  message was also malformed and never actually printed the exception.</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**Unfiltered targeting**</a:t>
            </a:r>
            <a:r>
              <a:rPr lang="en-US" sz="1200" b="0" kern="1200" dirty="0">
                <a:solidFill>
                  <a:schemeClr val="tx1"/>
                </a:solidFill>
                <a:effectLst/>
                <a:latin typeface="+mn-lt"/>
                <a:ea typeface="+mn-ea"/>
                <a:cs typeface="+mn-cs"/>
              </a:rPr>
              <a:t> — the group lookup returned users and disabled computer objects,</a:t>
            </a:r>
          </a:p>
          <a:p>
            <a:r>
              <a:rPr lang="en-US" sz="1200" b="0" kern="1200" dirty="0">
                <a:solidFill>
                  <a:schemeClr val="tx1"/>
                </a:solidFill>
                <a:effectLst/>
                <a:latin typeface="+mn-lt"/>
                <a:ea typeface="+mn-ea"/>
                <a:cs typeface="+mn-cs"/>
              </a:rPr>
              <a:t>  which then errored one by one during the clean.</a:t>
            </a:r>
          </a:p>
          <a:p>
            <a:r>
              <a:rPr lang="en-US" sz="1200" b="0" kern="1200" dirty="0">
                <a:solidFill>
                  <a:schemeClr val="tx1"/>
                </a:solidFill>
                <a:effectLst/>
                <a:latin typeface="+mn-lt"/>
                <a:ea typeface="+mn-ea"/>
                <a:cs typeface="+mn-cs"/>
              </a:rPr>
              <a:t>- A </a:t>
            </a:r>
            <a:r>
              <a:rPr lang="en-US" sz="1200" b="1" kern="1200" dirty="0">
                <a:solidFill>
                  <a:schemeClr val="tx1"/>
                </a:solidFill>
                <a:effectLst/>
                <a:latin typeface="+mn-lt"/>
                <a:ea typeface="+mn-ea"/>
                <a:cs typeface="+mn-cs"/>
              </a:rPr>
              <a:t>**negative**</a:t>
            </a:r>
            <a:r>
              <a:rPr lang="en-US" sz="1200" b="0" kern="1200" dirty="0">
                <a:solidFill>
                  <a:schemeClr val="tx1"/>
                </a:solidFill>
                <a:effectLst/>
                <a:latin typeface="+mn-lt"/>
                <a:ea typeface="+mn-ea"/>
                <a:cs typeface="+mn-cs"/>
              </a:rPr>
              <a:t> number-of-days input, which is counter-intuitive and easy to get wrong.</a:t>
            </a:r>
          </a:p>
          <a:p>
            <a:r>
              <a:rPr lang="en-US" sz="1200" b="0" kern="1200" dirty="0">
                <a:solidFill>
                  <a:schemeClr val="tx1"/>
                </a:solidFill>
                <a:effectLst/>
                <a:latin typeface="+mn-lt"/>
                <a:ea typeface="+mn-ea"/>
                <a:cs typeface="+mn-cs"/>
              </a:rPr>
              <a:t>- A free-text file filter that was easy to misuse.</a:t>
            </a:r>
          </a:p>
          <a:p>
            <a:r>
              <a:rPr lang="en-US" sz="1200" b="0" kern="1200" dirty="0">
                <a:solidFill>
                  <a:schemeClr val="tx1"/>
                </a:solidFill>
                <a:effectLst/>
                <a:latin typeface="+mn-lt"/>
                <a:ea typeface="+mn-ea"/>
                <a:cs typeface="+mn-cs"/>
              </a:rPr>
              <a:t>- Four near-identical copies of the delete logic in one function.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What is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**One workflow — </a:t>
            </a:r>
            <a:r>
              <a:rPr lang="en-US" sz="1200" b="0" i="1" kern="1200" dirty="0">
                <a:solidFill>
                  <a:schemeClr val="tx1"/>
                </a:solidFill>
                <a:effectLst/>
                <a:latin typeface="+mn-lt"/>
                <a:ea typeface="+mn-ea"/>
                <a:cs typeface="+mn-cs"/>
              </a:rPr>
              <a:t>*Clean-</a:t>
            </a:r>
            <a:r>
              <a:rPr lang="en-US" sz="1200" b="0" i="1" kern="1200" dirty="0" err="1">
                <a:solidFill>
                  <a:schemeClr val="tx1"/>
                </a:solidFill>
                <a:effectLst/>
                <a:latin typeface="+mn-lt"/>
                <a:ea typeface="+mn-ea"/>
                <a:cs typeface="+mn-cs"/>
              </a:rPr>
              <a:t>ServerDisks</a:t>
            </a:r>
            <a:r>
              <a:rPr lang="en-US" sz="1200" b="0" i="1"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ByADGroup</a:t>
            </a:r>
            <a:r>
              <a:rPr lang="en-US" sz="1200" b="0" i="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covering all eight templates. It</a:t>
            </a:r>
          </a:p>
          <a:p>
            <a:r>
              <a:rPr lang="en-US" sz="1200" b="1" kern="1200" dirty="0">
                <a:solidFill>
                  <a:schemeClr val="tx1"/>
                </a:solidFill>
                <a:effectLst/>
                <a:latin typeface="+mn-lt"/>
                <a:ea typeface="+mn-ea"/>
                <a:cs typeface="+mn-cs"/>
              </a:rPr>
              <a:t>**defaults to a safe report-only preview**</a:t>
            </a:r>
            <a:r>
              <a:rPr lang="en-US" sz="1200" b="0" kern="1200" dirty="0">
                <a:solidFill>
                  <a:schemeClr val="tx1"/>
                </a:solidFill>
                <a:effectLst/>
                <a:latin typeface="+mn-lt"/>
                <a:ea typeface="+mn-ea"/>
                <a:cs typeface="+mn-cs"/>
              </a:rPr>
              <a:t> and deletes only when explicitly told to.</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An item is deleted only when </a:t>
            </a:r>
            <a:r>
              <a:rPr lang="en-US" sz="1200" b="1" kern="1200" dirty="0">
                <a:solidFill>
                  <a:schemeClr val="tx1"/>
                </a:solidFill>
                <a:effectLst/>
                <a:latin typeface="+mn-lt"/>
                <a:ea typeface="+mn-ea"/>
                <a:cs typeface="+mn-cs"/>
              </a:rPr>
              <a:t>**all**</a:t>
            </a:r>
            <a:r>
              <a:rPr lang="en-US" sz="1200" b="0" kern="1200" dirty="0">
                <a:solidFill>
                  <a:schemeClr val="tx1"/>
                </a:solidFill>
                <a:effectLst/>
                <a:latin typeface="+mn-lt"/>
                <a:ea typeface="+mn-ea"/>
                <a:cs typeface="+mn-cs"/>
              </a:rPr>
              <a:t> of the following are true: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Its server is a </a:t>
            </a:r>
            <a:r>
              <a:rPr lang="en-US" sz="1200" b="1" kern="1200" dirty="0">
                <a:solidFill>
                  <a:schemeClr val="tx1"/>
                </a:solidFill>
                <a:effectLst/>
                <a:latin typeface="+mn-lt"/>
                <a:ea typeface="+mn-ea"/>
                <a:cs typeface="+mn-cs"/>
              </a:rPr>
              <a:t>**direct, enabled computer member**</a:t>
            </a:r>
            <a:r>
              <a:rPr lang="en-US" sz="1200" b="0" kern="1200" dirty="0">
                <a:solidFill>
                  <a:schemeClr val="tx1"/>
                </a:solidFill>
                <a:effectLst/>
                <a:latin typeface="+mn-lt"/>
                <a:ea typeface="+mn-ea"/>
                <a:cs typeface="+mn-cs"/>
              </a:rPr>
              <a:t> of the target group.</a:t>
            </a:r>
          </a:p>
          <a:p>
            <a:r>
              <a:rPr lang="en-US" sz="1200" b="0" kern="1200" dirty="0">
                <a:solidFill>
                  <a:schemeClr val="tx1"/>
                </a:solidFill>
                <a:effectLst/>
                <a:latin typeface="+mn-lt"/>
                <a:ea typeface="+mn-ea"/>
                <a:cs typeface="+mn-cs"/>
              </a:rPr>
              <a:t>2. Its last-modified time is </a:t>
            </a:r>
            <a:r>
              <a:rPr lang="en-US" sz="1200" b="1" kern="1200" dirty="0">
                <a:solidFill>
                  <a:schemeClr val="tx1"/>
                </a:solidFill>
                <a:effectLst/>
                <a:latin typeface="+mn-lt"/>
                <a:ea typeface="+mn-ea"/>
                <a:cs typeface="+mn-cs"/>
              </a:rPr>
              <a:t>**older than**</a:t>
            </a:r>
            <a:r>
              <a:rPr lang="en-US" sz="1200" b="0" kern="1200" dirty="0">
                <a:solidFill>
                  <a:schemeClr val="tx1"/>
                </a:solidFill>
                <a:effectLst/>
                <a:latin typeface="+mn-lt"/>
                <a:ea typeface="+mn-ea"/>
                <a:cs typeface="+mn-cs"/>
              </a:rPr>
              <a:t> the chosen threshold.</a:t>
            </a:r>
          </a:p>
          <a:p>
            <a:r>
              <a:rPr lang="en-US" sz="1200" b="0" kern="1200" dirty="0">
                <a:solidFill>
                  <a:schemeClr val="tx1"/>
                </a:solidFill>
                <a:effectLst/>
                <a:latin typeface="+mn-lt"/>
                <a:ea typeface="+mn-ea"/>
                <a:cs typeface="+mn-cs"/>
              </a:rPr>
              <a:t>3. It is not on the intentional-preservation list.</a:t>
            </a:r>
          </a:p>
          <a:p>
            <a:r>
              <a:rPr lang="en-US" sz="1200" b="0" kern="1200" dirty="0">
                <a:solidFill>
                  <a:schemeClr val="tx1"/>
                </a:solidFill>
                <a:effectLst/>
                <a:latin typeface="+mn-lt"/>
                <a:ea typeface="+mn-ea"/>
                <a:cs typeface="+mn-cs"/>
              </a:rPr>
              <a:t>4. The run is a </a:t>
            </a:r>
            <a:r>
              <a:rPr lang="en-US" sz="1200" b="1" kern="1200" dirty="0">
                <a:solidFill>
                  <a:schemeClr val="tx1"/>
                </a:solidFill>
                <a:effectLst/>
                <a:latin typeface="+mn-lt"/>
                <a:ea typeface="+mn-ea"/>
                <a:cs typeface="+mn-cs"/>
              </a:rPr>
              <a:t>**live**</a:t>
            </a:r>
            <a:r>
              <a:rPr lang="en-US" sz="1200" b="0" kern="1200" dirty="0">
                <a:solidFill>
                  <a:schemeClr val="tx1"/>
                </a:solidFill>
                <a:effectLst/>
                <a:latin typeface="+mn-lt"/>
                <a:ea typeface="+mn-ea"/>
                <a:cs typeface="+mn-cs"/>
              </a:rPr>
              <a:t> run — the default is preview.</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Enhancement | What it fixes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safety preview that is the default**</a:t>
            </a:r>
            <a:r>
              <a:rPr lang="en-US" sz="1200" b="0" kern="1200" dirty="0">
                <a:solidFill>
                  <a:schemeClr val="tx1"/>
                </a:solidFill>
                <a:effectLst/>
                <a:latin typeface="+mn-lt"/>
                <a:ea typeface="+mn-ea"/>
                <a:cs typeface="+mn-cs"/>
              </a:rPr>
              <a:t> | Lists every item that </a:t>
            </a:r>
            <a:r>
              <a:rPr lang="en-US" sz="1200" b="0" i="1" kern="1200" dirty="0">
                <a:solidFill>
                  <a:schemeClr val="tx1"/>
                </a:solidFill>
                <a:effectLst/>
                <a:latin typeface="+mn-lt"/>
                <a:ea typeface="+mn-ea"/>
                <a:cs typeface="+mn-cs"/>
              </a:rPr>
              <a:t>*would*</a:t>
            </a:r>
            <a:r>
              <a:rPr lang="en-US" sz="1200" b="0" kern="1200" dirty="0">
                <a:solidFill>
                  <a:schemeClr val="tx1"/>
                </a:solidFill>
                <a:effectLst/>
                <a:latin typeface="+mn-lt"/>
                <a:ea typeface="+mn-ea"/>
                <a:cs typeface="+mn-cs"/>
              </a:rPr>
              <a:t> be deleted and deletes nothing. An invalid value </a:t>
            </a:r>
            <a:r>
              <a:rPr lang="en-US" sz="1200" b="1" kern="1200" dirty="0">
                <a:solidFill>
                  <a:schemeClr val="tx1"/>
                </a:solidFill>
                <a:effectLst/>
                <a:latin typeface="+mn-lt"/>
                <a:ea typeface="+mn-ea"/>
                <a:cs typeface="+mn-cs"/>
              </a:rPr>
              <a:t>**fails safe**</a:t>
            </a:r>
            <a:r>
              <a:rPr lang="en-US" sz="1200" b="0" kern="1200" dirty="0">
                <a:solidFill>
                  <a:schemeClr val="tx1"/>
                </a:solidFill>
                <a:effectLst/>
                <a:latin typeface="+mn-lt"/>
                <a:ea typeface="+mn-ea"/>
                <a:cs typeface="+mn-cs"/>
              </a:rPr>
              <a:t> — no action taken. A live run logs a loud warning so it is unmistakable in the log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**Failures are visible**</a:t>
            </a:r>
            <a:r>
              <a:rPr lang="en-US" sz="1200" b="0" kern="1200" dirty="0">
                <a:solidFill>
                  <a:schemeClr val="tx1"/>
                </a:solidFill>
                <a:effectLst/>
                <a:latin typeface="+mn-lt"/>
                <a:ea typeface="+mn-ea"/>
                <a:cs typeface="+mn-cs"/>
              </a:rPr>
              <a:t> | An unreachable server now produces a logged error with server and path context; the per-server loop continues; the run ends </a:t>
            </a:r>
            <a:r>
              <a:rPr lang="en-US" sz="1200" b="0" i="1" kern="1200" dirty="0">
                <a:solidFill>
                  <a:schemeClr val="tx1"/>
                </a:solidFill>
                <a:effectLst/>
                <a:latin typeface="+mn-lt"/>
                <a:ea typeface="+mn-ea"/>
                <a:cs typeface="+mn-cs"/>
              </a:rPr>
              <a:t>*Completed with Errors*</a:t>
            </a:r>
            <a:r>
              <a:rPr lang="en-US" sz="1200" b="0" kern="1200" dirty="0">
                <a:solidFill>
                  <a:schemeClr val="tx1"/>
                </a:solidFill>
                <a:effectLst/>
                <a:latin typeface="+mn-lt"/>
                <a:ea typeface="+mn-ea"/>
                <a:cs typeface="+mn-cs"/>
              </a:rPr>
              <a:t> rather than looking clean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**Filtered targeting**</a:t>
            </a:r>
            <a:r>
              <a:rPr lang="en-US" sz="1200" b="0" kern="1200" dirty="0">
                <a:solidFill>
                  <a:schemeClr val="tx1"/>
                </a:solidFill>
                <a:effectLst/>
                <a:latin typeface="+mn-lt"/>
                <a:ea typeface="+mn-ea"/>
                <a:cs typeface="+mn-cs"/>
              </a:rPr>
              <a:t> | Direct, enabled computer objects only — disabled and non-computer objects skipped and logged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**Intuitive age input**</a:t>
            </a:r>
            <a:r>
              <a:rPr lang="en-US" sz="1200" b="0" kern="1200" dirty="0">
                <a:solidFill>
                  <a:schemeClr val="tx1"/>
                </a:solidFill>
                <a:effectLst/>
                <a:latin typeface="+mn-lt"/>
                <a:ea typeface="+mn-ea"/>
                <a:cs typeface="+mn-cs"/>
              </a:rPr>
              <a:t> | A positive "delete items older than N days" instead of a negative number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**Per-server </a:t>
            </a:r>
            <a:r>
              <a:rPr lang="en-US" sz="1200" b="0" i="1" kern="1200" dirty="0">
                <a:solidFill>
                  <a:schemeClr val="tx1"/>
                </a:solidFill>
                <a:effectLst/>
                <a:latin typeface="+mn-lt"/>
                <a:ea typeface="+mn-ea"/>
                <a:cs typeface="+mn-cs"/>
              </a:rPr>
              <a:t>*and per-item*</a:t>
            </a:r>
            <a:r>
              <a:rPr lang="en-US" sz="1200" b="1" kern="1200" dirty="0">
                <a:solidFill>
                  <a:schemeClr val="tx1"/>
                </a:solidFill>
                <a:effectLst/>
                <a:latin typeface="+mn-lt"/>
                <a:ea typeface="+mn-ea"/>
                <a:cs typeface="+mn-cs"/>
              </a:rPr>
              <a:t> isolation**</a:t>
            </a:r>
            <a:r>
              <a:rPr lang="en-US" sz="1200" b="0" kern="1200" dirty="0">
                <a:solidFill>
                  <a:schemeClr val="tx1"/>
                </a:solidFill>
                <a:effectLst/>
                <a:latin typeface="+mn-lt"/>
                <a:ea typeface="+mn-ea"/>
                <a:cs typeface="+mn-cs"/>
              </a:rPr>
              <a:t> | One failure is logged and the rest proceed. An item already removed as part of a parent folder is correctly not counted as a failure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**One code path**</a:t>
            </a:r>
            <a:r>
              <a:rPr lang="en-US" sz="1200" b="0" kern="1200" dirty="0">
                <a:solidFill>
                  <a:schemeClr val="tx1"/>
                </a:solidFill>
                <a:effectLst/>
                <a:latin typeface="+mn-lt"/>
                <a:ea typeface="+mn-ea"/>
                <a:cs typeface="+mn-cs"/>
              </a:rPr>
              <a:t> | The four duplicate delete branches collapse into a single selection pipeline shared by both preview and live run — so the two </a:t>
            </a:r>
            <a:r>
              <a:rPr lang="en-US" sz="1200" b="1" kern="1200" dirty="0">
                <a:solidFill>
                  <a:schemeClr val="tx1"/>
                </a:solidFill>
                <a:effectLst/>
                <a:latin typeface="+mn-lt"/>
                <a:ea typeface="+mn-ea"/>
                <a:cs typeface="+mn-cs"/>
              </a:rPr>
              <a:t>**cannot diverge**</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**Guards**</a:t>
            </a:r>
            <a:r>
              <a:rPr lang="en-US" sz="1200" b="0" kern="1200" dirty="0">
                <a:solidFill>
                  <a:schemeClr val="tx1"/>
                </a:solidFill>
                <a:effectLst/>
                <a:latin typeface="+mn-lt"/>
                <a:ea typeface="+mn-ea"/>
                <a:cs typeface="+mn-cs"/>
              </a:rPr>
              <a:t> | A missing prerequisite throws; an empty group or empty folder list exits cleanly with a warning rather than looking like a successful clean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**Design decision worth stating:**</a:t>
            </a:r>
            <a:r>
              <a:rPr lang="en-US" sz="1200" b="0" kern="1200" dirty="0">
                <a:solidFill>
                  <a:schemeClr val="tx1"/>
                </a:solidFill>
                <a:effectLst/>
                <a:latin typeface="+mn-lt"/>
                <a:ea typeface="+mn-ea"/>
                <a:cs typeface="+mn-cs"/>
              </a:rPr>
              <a:t> this resolver is deliberately </a:t>
            </a:r>
            <a:r>
              <a:rPr lang="en-US" sz="1200" b="1" kern="1200" dirty="0">
                <a:solidFill>
                  <a:schemeClr val="tx1"/>
                </a:solidFill>
                <a:effectLst/>
                <a:latin typeface="+mn-lt"/>
                <a:ea typeface="+mn-ea"/>
                <a:cs typeface="+mn-cs"/>
              </a:rPr>
              <a:t>**non-recursive**</a:t>
            </a:r>
            <a:r>
              <a:rPr lang="en-US" sz="1200" b="0" kern="1200" dirty="0">
                <a:solidFill>
                  <a:schemeClr val="tx1"/>
                </a:solidFill>
                <a:effectLst/>
                <a:latin typeface="+mn-lt"/>
                <a:ea typeface="+mn-ea"/>
                <a:cs typeface="+mn-cs"/>
              </a:rPr>
              <a:t>, unlike</a:t>
            </a:r>
          </a:p>
          <a:p>
            <a:r>
              <a:rPr lang="en-US" sz="1200" b="0" kern="1200" dirty="0">
                <a:solidFill>
                  <a:schemeClr val="tx1"/>
                </a:solidFill>
                <a:effectLst/>
                <a:latin typeface="+mn-lt"/>
                <a:ea typeface="+mn-ea"/>
                <a:cs typeface="+mn-cs"/>
              </a:rPr>
              <a:t>the read-only report. Deleting files is destructive, so only what an operator placed</a:t>
            </a:r>
          </a:p>
          <a:p>
            <a:r>
              <a:rPr lang="en-US" sz="1200" b="0" i="1" kern="1200" dirty="0">
                <a:solidFill>
                  <a:schemeClr val="tx1"/>
                </a:solidFill>
                <a:effectLst/>
                <a:latin typeface="+mn-lt"/>
                <a:ea typeface="+mn-ea"/>
                <a:cs typeface="+mn-cs"/>
              </a:rPr>
              <a:t>*directly*</a:t>
            </a:r>
            <a:r>
              <a:rPr lang="en-US" sz="1200" b="0" kern="1200" dirty="0">
                <a:solidFill>
                  <a:schemeClr val="tx1"/>
                </a:solidFill>
                <a:effectLst/>
                <a:latin typeface="+mn-lt"/>
                <a:ea typeface="+mn-ea"/>
                <a:cs typeface="+mn-cs"/>
              </a:rPr>
              <a:t> in the group is a target — a nested sub-group is never silently expanded into</a:t>
            </a:r>
          </a:p>
          <a:p>
            <a:r>
              <a:rPr lang="en-US" sz="1200" b="0" kern="1200" dirty="0">
                <a:solidFill>
                  <a:schemeClr val="tx1"/>
                </a:solidFill>
                <a:effectLst/>
                <a:latin typeface="+mn-lt"/>
                <a:ea typeface="+mn-ea"/>
                <a:cs typeface="+mn-cs"/>
              </a:rPr>
              <a:t>scope. This also preserves the original </a:t>
            </a:r>
            <a:r>
              <a:rPr lang="en-US" sz="1200" b="0" kern="1200" dirty="0" err="1">
                <a:solidFill>
                  <a:schemeClr val="tx1"/>
                </a:solidFill>
                <a:effectLst/>
                <a:latin typeface="+mn-lt"/>
                <a:ea typeface="+mn-ea"/>
                <a:cs typeface="+mn-cs"/>
              </a:rPr>
              <a:t>behaviour</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What was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One Ansible playbook that rebooted the Windows servers in a designated AD security group.</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**What was wrong with it — this is the most serious set of findings in the program:**</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Defect | Real-world effect today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pending-reboot test was inverted-by-accident.**</a:t>
            </a:r>
            <a:r>
              <a:rPr lang="en-US" sz="1200" b="0" kern="1200" dirty="0">
                <a:solidFill>
                  <a:schemeClr val="tx1"/>
                </a:solidFill>
                <a:effectLst/>
                <a:latin typeface="+mn-lt"/>
                <a:ea typeface="+mn-ea"/>
                <a:cs typeface="+mn-cs"/>
              </a:rPr>
              <a:t> It asked "is this </a:t>
            </a:r>
            <a:r>
              <a:rPr lang="en-US" sz="1200" b="0" i="1" kern="1200" dirty="0">
                <a:solidFill>
                  <a:schemeClr val="tx1"/>
                </a:solidFill>
                <a:effectLst/>
                <a:latin typeface="+mn-lt"/>
                <a:ea typeface="+mn-ea"/>
                <a:cs typeface="+mn-cs"/>
              </a:rPr>
              <a:t>*not*</a:t>
            </a:r>
            <a:r>
              <a:rPr lang="en-US" sz="1200" b="0" kern="1200" dirty="0">
                <a:solidFill>
                  <a:schemeClr val="tx1"/>
                </a:solidFill>
                <a:effectLst/>
                <a:latin typeface="+mn-lt"/>
                <a:ea typeface="+mn-ea"/>
                <a:cs typeface="+mn-cs"/>
              </a:rPr>
              <a:t> False?" — which is </a:t>
            </a:r>
            <a:r>
              <a:rPr lang="en-US" sz="1200" b="1" kern="1200" dirty="0">
                <a:solidFill>
                  <a:schemeClr val="tx1"/>
                </a:solidFill>
                <a:effectLst/>
                <a:latin typeface="+mn-lt"/>
                <a:ea typeface="+mn-ea"/>
                <a:cs typeface="+mn-cs"/>
              </a:rPr>
              <a:t>**also true when the state could not be read at all**</a:t>
            </a:r>
            <a:r>
              <a:rPr lang="en-US" sz="1200" b="0" kern="1200" dirty="0">
                <a:solidFill>
                  <a:schemeClr val="tx1"/>
                </a:solidFill>
                <a:effectLst/>
                <a:latin typeface="+mn-lt"/>
                <a:ea typeface="+mn-ea"/>
                <a:cs typeface="+mn-cs"/>
              </a:rPr>
              <a:t> | A server whose pending state </a:t>
            </a:r>
            <a:r>
              <a:rPr lang="en-US" sz="1200" b="1" kern="1200" dirty="0">
                <a:solidFill>
                  <a:schemeClr val="tx1"/>
                </a:solidFill>
                <a:effectLst/>
                <a:latin typeface="+mn-lt"/>
                <a:ea typeface="+mn-ea"/>
                <a:cs typeface="+mn-cs"/>
              </a:rPr>
              <a:t>**could not be determined**</a:t>
            </a:r>
            <a:r>
              <a:rPr lang="en-US" sz="1200" b="0" kern="1200" dirty="0">
                <a:solidFill>
                  <a:schemeClr val="tx1"/>
                </a:solidFill>
                <a:effectLst/>
                <a:latin typeface="+mn-lt"/>
                <a:ea typeface="+mn-ea"/>
                <a:cs typeface="+mn-cs"/>
              </a:rPr>
              <a:t> — WMI or RPC failure — was treated as pending and </a:t>
            </a:r>
            <a:r>
              <a:rPr lang="en-US" sz="1200" b="1" kern="1200" dirty="0">
                <a:solidFill>
                  <a:schemeClr val="tx1"/>
                </a:solidFill>
                <a:effectLst/>
                <a:latin typeface="+mn-lt"/>
                <a:ea typeface="+mn-ea"/>
                <a:cs typeface="+mn-cs"/>
              </a:rPr>
              <a:t>**force-rebooted**</a:t>
            </a:r>
            <a:r>
              <a:rPr lang="en-US" sz="1200" b="0" kern="1200" dirty="0">
                <a:solidFill>
                  <a:schemeClr val="tx1"/>
                </a:solidFill>
                <a:effectLst/>
                <a:latin typeface="+mn-lt"/>
                <a:ea typeface="+mn-ea"/>
                <a:cs typeface="+mn-cs"/>
              </a:rPr>
              <a:t>, with the force flag set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**Reboot failures raised no error.**</a:t>
            </a:r>
            <a:r>
              <a:rPr lang="en-US" sz="1200" b="0" kern="1200" dirty="0">
                <a:solidFill>
                  <a:schemeClr val="tx1"/>
                </a:solidFill>
                <a:effectLst/>
                <a:latin typeface="+mn-lt"/>
                <a:ea typeface="+mn-ea"/>
                <a:cs typeface="+mn-cs"/>
              </a:rPr>
              <a:t> The shutdown command is a native executable; when it fails it does not raise the kind of error the surrounding error handling was watching for | </a:t>
            </a:r>
            <a:r>
              <a:rPr lang="en-US" sz="1200" b="1" kern="1200" dirty="0">
                <a:solidFill>
                  <a:schemeClr val="tx1"/>
                </a:solidFill>
                <a:effectLst/>
                <a:latin typeface="+mn-lt"/>
                <a:ea typeface="+mn-ea"/>
                <a:cs typeface="+mn-cs"/>
              </a:rPr>
              <a:t>**Failed reboots were indistinguishable from successful ones.**</a:t>
            </a:r>
            <a:r>
              <a:rPr lang="en-US" sz="1200" b="0" kern="1200" dirty="0">
                <a:solidFill>
                  <a:schemeClr val="tx1"/>
                </a:solidFill>
                <a:effectLst/>
                <a:latin typeface="+mn-lt"/>
                <a:ea typeface="+mn-ea"/>
                <a:cs typeface="+mn-cs"/>
              </a:rPr>
              <a:t> Nothing was logged, and no report reflected it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path-building bug meant the pre-reboot step never ran.**</a:t>
            </a:r>
            <a:r>
              <a:rPr lang="en-US" sz="1200" b="0" kern="1200" dirty="0">
                <a:solidFill>
                  <a:schemeClr val="tx1"/>
                </a:solidFill>
                <a:effectLst/>
                <a:latin typeface="+mn-lt"/>
                <a:ea typeface="+mn-ea"/>
                <a:cs typeface="+mn-cs"/>
              </a:rPr>
              <a:t> The variable it was built from is always empty, so every path derived from it was wrong | The pre-reboot step </a:t>
            </a:r>
            <a:r>
              <a:rPr lang="en-US" sz="1200" b="1" kern="1200" dirty="0">
                <a:solidFill>
                  <a:schemeClr val="tx1"/>
                </a:solidFill>
                <a:effectLst/>
                <a:latin typeface="+mn-lt"/>
                <a:ea typeface="+mn-ea"/>
                <a:cs typeface="+mn-cs"/>
              </a:rPr>
              <a:t>**has never executed**</a:t>
            </a:r>
            <a:r>
              <a:rPr lang="en-US" sz="1200" b="0" kern="1200" dirty="0">
                <a:solidFill>
                  <a:schemeClr val="tx1"/>
                </a:solidFill>
                <a:effectLst/>
                <a:latin typeface="+mn-lt"/>
                <a:ea typeface="+mn-ea"/>
                <a:cs typeface="+mn-cs"/>
              </a:rPr>
              <a:t> — and the server was rebooted anyway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Beyond the defects: unfiltered group membership, no reboot confirmation, and **no report or</a:t>
            </a:r>
          </a:p>
          <a:p>
            <a:r>
              <a:rPr lang="en-US" sz="1200" b="0" kern="1200" dirty="0">
                <a:solidFill>
                  <a:schemeClr val="tx1"/>
                </a:solidFill>
                <a:effectLst/>
                <a:latin typeface="+mn-lt"/>
                <a:ea typeface="+mn-ea"/>
                <a:cs typeface="+mn-cs"/>
              </a:rPr>
              <a:t>email of any kind** from the reboot action.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What is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**One workflow**</a:t>
            </a:r>
            <a:r>
              <a:rPr lang="en-US" sz="1200" b="0" kern="1200" dirty="0">
                <a:solidFill>
                  <a:schemeClr val="tx1"/>
                </a:solidFill>
                <a:effectLst/>
                <a:latin typeface="+mn-lt"/>
                <a:ea typeface="+mn-ea"/>
                <a:cs typeface="+mn-cs"/>
              </a:rPr>
              <a:t> that reboots only the servers </a:t>
            </a:r>
            <a:r>
              <a:rPr lang="en-US" sz="1200" b="1" kern="1200" dirty="0">
                <a:solidFill>
                  <a:schemeClr val="tx1"/>
                </a:solidFill>
                <a:effectLst/>
                <a:latin typeface="+mn-lt"/>
                <a:ea typeface="+mn-ea"/>
                <a:cs typeface="+mn-cs"/>
              </a:rPr>
              <a:t>**actually reporting a pending reboot**</a:t>
            </a:r>
            <a:r>
              <a:rPr lang="en-US" sz="1200" b="0" kern="1200" dirty="0">
                <a:solidFill>
                  <a:schemeClr val="tx1"/>
                </a:solidFill>
                <a:effectLst/>
                <a:latin typeface="+mn-lt"/>
                <a:ea typeface="+mn-ea"/>
                <a:cs typeface="+mn-cs"/>
              </a:rPr>
              <a:t>, one</a:t>
            </a:r>
          </a:p>
          <a:p>
            <a:r>
              <a:rPr lang="en-US" sz="1200" b="0" kern="1200" dirty="0">
                <a:solidFill>
                  <a:schemeClr val="tx1"/>
                </a:solidFill>
                <a:effectLst/>
                <a:latin typeface="+mn-lt"/>
                <a:ea typeface="+mn-ea"/>
                <a:cs typeface="+mn-cs"/>
              </a:rPr>
              <a:t>at a time, on a schedule — and produces an auditable per-server report. It covers **physical</a:t>
            </a:r>
          </a:p>
          <a:p>
            <a:r>
              <a:rPr lang="en-US" sz="1200" b="0" kern="1200" dirty="0">
                <a:solidFill>
                  <a:schemeClr val="tx1"/>
                </a:solidFill>
                <a:effectLst/>
                <a:latin typeface="+mn-lt"/>
                <a:ea typeface="+mn-ea"/>
                <a:cs typeface="+mn-cs"/>
              </a:rPr>
              <a:t>and virtual** servers alike, because every operation is OS-level.</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 server is rebooted only when </a:t>
            </a:r>
            <a:r>
              <a:rPr lang="en-US" sz="1200" b="1" kern="1200" dirty="0">
                <a:solidFill>
                  <a:schemeClr val="tx1"/>
                </a:solidFill>
                <a:effectLst/>
                <a:latin typeface="+mn-lt"/>
                <a:ea typeface="+mn-ea"/>
                <a:cs typeface="+mn-cs"/>
              </a:rPr>
              <a:t>**all**</a:t>
            </a:r>
            <a:r>
              <a:rPr lang="en-US" sz="1200" b="0" kern="1200" dirty="0">
                <a:solidFill>
                  <a:schemeClr val="tx1"/>
                </a:solidFill>
                <a:effectLst/>
                <a:latin typeface="+mn-lt"/>
                <a:ea typeface="+mn-ea"/>
                <a:cs typeface="+mn-cs"/>
              </a:rPr>
              <a:t> of these are true: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It is a </a:t>
            </a:r>
            <a:r>
              <a:rPr lang="en-US" sz="1200" b="1" kern="1200" dirty="0">
                <a:solidFill>
                  <a:schemeClr val="tx1"/>
                </a:solidFill>
                <a:effectLst/>
                <a:latin typeface="+mn-lt"/>
                <a:ea typeface="+mn-ea"/>
                <a:cs typeface="+mn-cs"/>
              </a:rPr>
              <a:t>**direct, enabled computer member**</a:t>
            </a:r>
            <a:r>
              <a:rPr lang="en-US" sz="1200" b="0" kern="1200" dirty="0">
                <a:solidFill>
                  <a:schemeClr val="tx1"/>
                </a:solidFill>
                <a:effectLst/>
                <a:latin typeface="+mn-lt"/>
                <a:ea typeface="+mn-ea"/>
                <a:cs typeface="+mn-cs"/>
              </a:rPr>
              <a:t> of the target group.</a:t>
            </a:r>
          </a:p>
          <a:p>
            <a:r>
              <a:rPr lang="en-US" sz="1200" b="0" kern="1200" dirty="0">
                <a:solidFill>
                  <a:schemeClr val="tx1"/>
                </a:solidFill>
                <a:effectLst/>
                <a:latin typeface="+mn-lt"/>
                <a:ea typeface="+mn-ea"/>
                <a:cs typeface="+mn-cs"/>
              </a:rPr>
              <a:t>2. It </a:t>
            </a:r>
            <a:r>
              <a:rPr lang="en-US" sz="1200" b="1" kern="1200" dirty="0">
                <a:solidFill>
                  <a:schemeClr val="tx1"/>
                </a:solidFill>
                <a:effectLst/>
                <a:latin typeface="+mn-lt"/>
                <a:ea typeface="+mn-ea"/>
                <a:cs typeface="+mn-cs"/>
              </a:rPr>
              <a:t>**reports a pending reboot**</a:t>
            </a:r>
            <a:r>
              <a:rPr lang="en-US" sz="1200" b="0" kern="1200" dirty="0">
                <a:solidFill>
                  <a:schemeClr val="tx1"/>
                </a:solidFill>
                <a:effectLst/>
                <a:latin typeface="+mn-lt"/>
                <a:ea typeface="+mn-ea"/>
                <a:cs typeface="+mn-cs"/>
              </a:rPr>
              <a:t> — via Component Based Servicing, Windows Update, or the</a:t>
            </a:r>
          </a:p>
          <a:p>
            <a:r>
              <a:rPr lang="en-US" sz="1200" b="0" kern="1200" dirty="0">
                <a:solidFill>
                  <a:schemeClr val="tx1"/>
                </a:solidFill>
                <a:effectLst/>
                <a:latin typeface="+mn-lt"/>
                <a:ea typeface="+mn-ea"/>
                <a:cs typeface="+mn-cs"/>
              </a:rPr>
              <a:t>   SCCM client.</a:t>
            </a:r>
          </a:p>
          <a:p>
            <a:r>
              <a:rPr lang="en-US" sz="1200" b="0" kern="1200" dirty="0">
                <a:solidFill>
                  <a:schemeClr val="tx1"/>
                </a:solidFill>
                <a:effectLst/>
                <a:latin typeface="+mn-lt"/>
                <a:ea typeface="+mn-ea"/>
                <a:cs typeface="+mn-cs"/>
              </a:rPr>
              <a:t>3. The run is in reboot mode, which the schedule always sets.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**Servers whose pending state cannot be read are skipped, never rebooted.**</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Enhancement | What it fixes |</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**Never reboots what it could not first interrogate**</a:t>
            </a:r>
            <a:r>
              <a:rPr lang="en-US" sz="1200" b="0" kern="1200" dirty="0">
                <a:solidFill>
                  <a:schemeClr val="tx1"/>
                </a:solidFill>
                <a:effectLst/>
                <a:latin typeface="+mn-lt"/>
                <a:ea typeface="+mn-ea"/>
                <a:cs typeface="+mn-cs"/>
              </a:rPr>
              <a:t> | The state test now requires an explicit "pending". An unreadable server is skipped and reported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**Reboots are verified**</a:t>
            </a:r>
            <a:r>
              <a:rPr lang="en-US" sz="1200" b="0" kern="1200" dirty="0">
                <a:solidFill>
                  <a:schemeClr val="tx1"/>
                </a:solidFill>
                <a:effectLst/>
                <a:latin typeface="+mn-lt"/>
                <a:ea typeface="+mn-ea"/>
                <a:cs typeface="+mn-cs"/>
              </a:rPr>
              <a:t> | Each server must come back — its last-boot time must advance — within a timeout, or it is reported as failed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**Failed reboots are detected**</a:t>
            </a:r>
            <a:r>
              <a:rPr lang="en-US" sz="1200" b="0" kern="1200" dirty="0">
                <a:solidFill>
                  <a:schemeClr val="tx1"/>
                </a:solidFill>
                <a:effectLst/>
                <a:latin typeface="+mn-lt"/>
                <a:ea typeface="+mn-ea"/>
                <a:cs typeface="+mn-cs"/>
              </a:rPr>
              <a:t> | The command's exit status is captured and tested. A failure is logged and reported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**Per-server HTML report, emailed**</a:t>
            </a:r>
            <a:r>
              <a:rPr lang="en-US" sz="1200" b="0" kern="1200" dirty="0">
                <a:solidFill>
                  <a:schemeClr val="tx1"/>
                </a:solidFill>
                <a:effectLst/>
                <a:latin typeface="+mn-lt"/>
                <a:ea typeface="+mn-ea"/>
                <a:cs typeface="+mn-cs"/>
              </a:rPr>
              <a:t> | Status, timing and reason per server. The reboot action previously produced nothing at all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**Filtered, non-recursive targeting**</a:t>
            </a:r>
            <a:r>
              <a:rPr lang="en-US" sz="1200" b="0" kern="1200" dirty="0">
                <a:solidFill>
                  <a:schemeClr val="tx1"/>
                </a:solidFill>
                <a:effectLst/>
                <a:latin typeface="+mn-lt"/>
                <a:ea typeface="+mn-ea"/>
                <a:cs typeface="+mn-cs"/>
              </a:rPr>
              <a:t> | Direct, enabled computer objects only — a nested sub-group is never silently expanded into a </a:t>
            </a:r>
            <a:r>
              <a:rPr lang="en-US" sz="1200" b="1" kern="1200" dirty="0">
                <a:solidFill>
                  <a:schemeClr val="tx1"/>
                </a:solidFill>
                <a:effectLst/>
                <a:latin typeface="+mn-lt"/>
                <a:ea typeface="+mn-ea"/>
                <a:cs typeface="+mn-cs"/>
              </a:rPr>
              <a:t>**destructive**</a:t>
            </a:r>
            <a:r>
              <a:rPr lang="en-US" sz="1200" b="0" kern="1200" dirty="0">
                <a:solidFill>
                  <a:schemeClr val="tx1"/>
                </a:solidFill>
                <a:effectLst/>
                <a:latin typeface="+mn-lt"/>
                <a:ea typeface="+mn-ea"/>
                <a:cs typeface="+mn-cs"/>
              </a:rPr>
              <a:t> action |</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pre-reboot script is opt-in, default OFF**</a:t>
            </a:r>
            <a:r>
              <a:rPr lang="en-US" sz="1200" b="0" kern="1200" dirty="0">
                <a:solidFill>
                  <a:schemeClr val="tx1"/>
                </a:solidFill>
                <a:effectLst/>
                <a:latin typeface="+mn-lt"/>
                <a:ea typeface="+mn-ea"/>
                <a:cs typeface="+mn-cs"/>
              </a:rPr>
              <a:t> | See below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The security item — this deserves its own slide</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optional pre-reboot script grants broad access to the **USB mass-storage driver</a:t>
            </a:r>
          </a:p>
          <a:p>
            <a:r>
              <a:rPr lang="en-US" sz="1200" b="0" kern="1200" dirty="0">
                <a:solidFill>
                  <a:schemeClr val="tx1"/>
                </a:solidFill>
                <a:effectLst/>
                <a:latin typeface="+mn-lt"/>
                <a:ea typeface="+mn-ea"/>
                <a:cs typeface="+mn-cs"/>
              </a:rPr>
              <a:t>definition** and the </a:t>
            </a:r>
            <a:r>
              <a:rPr lang="en-US" sz="1200" b="1" kern="1200" dirty="0">
                <a:solidFill>
                  <a:schemeClr val="tx1"/>
                </a:solidFill>
                <a:effectLst/>
                <a:latin typeface="+mn-lt"/>
                <a:ea typeface="+mn-ea"/>
                <a:cs typeface="+mn-cs"/>
              </a:rPr>
              <a:t>**Terminal Services component**</a:t>
            </a:r>
            <a:r>
              <a:rPr lang="en-US" sz="1200" b="0" kern="1200" dirty="0">
                <a:solidFill>
                  <a:schemeClr val="tx1"/>
                </a:solidFill>
                <a:effectLst/>
                <a:latin typeface="+mn-lt"/>
                <a:ea typeface="+mn-ea"/>
                <a:cs typeface="+mn-cs"/>
              </a:rPr>
              <a:t> on every server it touches. Restrictive</a:t>
            </a:r>
          </a:p>
          <a:p>
            <a:r>
              <a:rPr lang="en-US" sz="1200" b="0" kern="1200" dirty="0">
                <a:solidFill>
                  <a:schemeClr val="tx1"/>
                </a:solidFill>
                <a:effectLst/>
                <a:latin typeface="+mn-lt"/>
                <a:ea typeface="+mn-ea"/>
                <a:cs typeface="+mn-cs"/>
              </a:rPr>
              <a:t>permissions on those files are a standard control; loosening them is a security-posture</a:t>
            </a:r>
          </a:p>
          <a:p>
            <a:r>
              <a:rPr lang="en-US" sz="1200" b="0" kern="1200" dirty="0">
                <a:solidFill>
                  <a:schemeClr val="tx1"/>
                </a:solidFill>
                <a:effectLst/>
                <a:latin typeface="+mn-lt"/>
                <a:ea typeface="+mn-ea"/>
                <a:cs typeface="+mn-cs"/>
              </a:rPr>
              <a:t>change.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Because of the path-building bug, </a:t>
            </a:r>
            <a:r>
              <a:rPr lang="en-US" sz="1200" b="1" kern="1200" dirty="0">
                <a:solidFill>
                  <a:schemeClr val="tx1"/>
                </a:solidFill>
                <a:effectLst/>
                <a:latin typeface="+mn-lt"/>
                <a:ea typeface="+mn-ea"/>
                <a:cs typeface="+mn-cs"/>
              </a:rPr>
              <a:t>**it has never actually executed.**</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Fixing that bug alone would have </a:t>
            </a:r>
            <a:r>
              <a:rPr lang="en-US" sz="1200" b="1" kern="1200" dirty="0">
                <a:solidFill>
                  <a:schemeClr val="tx1"/>
                </a:solidFill>
                <a:effectLst/>
                <a:latin typeface="+mn-lt"/>
                <a:ea typeface="+mn-ea"/>
                <a:cs typeface="+mn-cs"/>
              </a:rPr>
              <a:t>**silently started applying those permission changes**</a:t>
            </a:r>
            <a:r>
              <a:rPr lang="en-US" sz="1200" b="0" kern="1200" dirty="0">
                <a:solidFill>
                  <a:schemeClr val="tx1"/>
                </a:solidFill>
                <a:effectLst/>
                <a:latin typeface="+mn-lt"/>
                <a:ea typeface="+mn-ea"/>
                <a:cs typeface="+mn-cs"/>
              </a:rPr>
              <a:t> to</a:t>
            </a:r>
          </a:p>
          <a:p>
            <a:r>
              <a:rPr lang="en-US" sz="1200" b="0" kern="1200" dirty="0">
                <a:solidFill>
                  <a:schemeClr val="tx1"/>
                </a:solidFill>
                <a:effectLst/>
                <a:latin typeface="+mn-lt"/>
                <a:ea typeface="+mn-ea"/>
                <a:cs typeface="+mn-cs"/>
              </a:rPr>
              <a:t>every rebooted server in the group — a security change arriving as a side effect of a bug</a:t>
            </a:r>
          </a:p>
          <a:p>
            <a:r>
              <a:rPr lang="en-US" sz="1200" b="0" kern="1200" dirty="0">
                <a:solidFill>
                  <a:schemeClr val="tx1"/>
                </a:solidFill>
                <a:effectLst/>
                <a:latin typeface="+mn-lt"/>
                <a:ea typeface="+mn-ea"/>
                <a:cs typeface="+mn-cs"/>
              </a:rPr>
              <a:t>fix. It is therefore gated behind an explicit opt-in switch that **defaults to off, so</a:t>
            </a:r>
          </a:p>
          <a:p>
            <a:r>
              <a:rPr lang="en-US" sz="1200" b="0" kern="1200" dirty="0">
                <a:solidFill>
                  <a:schemeClr val="tx1"/>
                </a:solidFill>
                <a:effectLst/>
                <a:latin typeface="+mn-lt"/>
                <a:ea typeface="+mn-ea"/>
                <a:cs typeface="+mn-cs"/>
              </a:rPr>
              <a:t>default </a:t>
            </a:r>
            <a:r>
              <a:rPr lang="en-US" sz="1200" b="0" kern="1200" dirty="0" err="1">
                <a:solidFill>
                  <a:schemeClr val="tx1"/>
                </a:solidFill>
                <a:effectLst/>
                <a:latin typeface="+mn-lt"/>
                <a:ea typeface="+mn-ea"/>
                <a:cs typeface="+mn-cs"/>
              </a:rPr>
              <a:t>behaviour</a:t>
            </a:r>
            <a:r>
              <a:rPr lang="en-US" sz="1200" b="0" kern="1200" dirty="0">
                <a:solidFill>
                  <a:schemeClr val="tx1"/>
                </a:solidFill>
                <a:effectLst/>
                <a:latin typeface="+mn-lt"/>
                <a:ea typeface="+mn-ea"/>
                <a:cs typeface="+mn-cs"/>
              </a:rPr>
              <a:t> matches today exactly**, pending customer security review.</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naming of the script suggests it dates to Windows 2000 and may simply be obsolete.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1257300" y="3483623"/>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B5D9FD"/>
                </a:solidFill>
                <a:latin typeface="Arial" pitchFamily="34" charset="0"/>
                <a:ea typeface="Arial" pitchFamily="34" charset="-122"/>
                <a:cs typeface="Arial" pitchFamily="34" charset="-120"/>
              </a:rPr>
              <a:t>BRIEFING AND DEMO PACK · AUGUST 2026</a:t>
            </a:r>
            <a:endParaRPr lang="en-US" sz="1650" dirty="0"/>
          </a:p>
        </p:txBody>
      </p:sp>
      <p:sp>
        <p:nvSpPr>
          <p:cNvPr id="3" name="Text 1"/>
          <p:cNvSpPr/>
          <p:nvPr/>
        </p:nvSpPr>
        <p:spPr>
          <a:xfrm>
            <a:off x="1257300" y="4036966"/>
            <a:ext cx="14668500" cy="1326349"/>
          </a:xfrm>
          <a:prstGeom prst="rect">
            <a:avLst/>
          </a:prstGeom>
          <a:noFill/>
          <a:ln/>
        </p:spPr>
        <p:txBody>
          <a:bodyPr wrap="square" lIns="25400" tIns="25400" rIns="25400" bIns="25400" rtlCol="0" anchor="t">
            <a:normAutofit fontScale="92500"/>
          </a:bodyPr>
          <a:lstStyle/>
          <a:p>
            <a:pPr marL="0" indent="0" algn="l">
              <a:lnSpc>
                <a:spcPct val="89855"/>
              </a:lnSpc>
              <a:buNone/>
            </a:pPr>
            <a:r>
              <a:rPr lang="en-US" sz="9000" b="1" kern="0" spc="-135" dirty="0">
                <a:solidFill>
                  <a:srgbClr val="F2F2F3"/>
                </a:solidFill>
                <a:latin typeface="Arial" pitchFamily="34" charset="0"/>
                <a:ea typeface="Arial" pitchFamily="34" charset="-122"/>
                <a:cs typeface="Arial" pitchFamily="34" charset="-120"/>
              </a:rPr>
              <a:t>VMware automation delivery</a:t>
            </a:r>
            <a:endParaRPr lang="en-US" sz="9000" dirty="0"/>
          </a:p>
        </p:txBody>
      </p:sp>
      <p:sp>
        <p:nvSpPr>
          <p:cNvPr id="4" name="Shape 2"/>
          <p:cNvSpPr/>
          <p:nvPr/>
        </p:nvSpPr>
        <p:spPr>
          <a:xfrm>
            <a:off x="1257300" y="5586859"/>
            <a:ext cx="13335000" cy="9525"/>
          </a:xfrm>
          <a:prstGeom prst="rect">
            <a:avLst/>
          </a:prstGeom>
          <a:solidFill>
            <a:srgbClr val="F2F2F2">
              <a:alpha val="30000"/>
            </a:srgbClr>
          </a:solidFill>
          <a:ln/>
        </p:spPr>
        <p:txBody>
          <a:bodyPr/>
          <a:lstStyle/>
          <a:p>
            <a:endParaRPr lang="en-US"/>
          </a:p>
        </p:txBody>
      </p:sp>
      <p:sp>
        <p:nvSpPr>
          <p:cNvPr id="5" name="Text 3"/>
          <p:cNvSpPr/>
          <p:nvPr/>
        </p:nvSpPr>
        <p:spPr>
          <a:xfrm>
            <a:off x="1257300" y="5977384"/>
            <a:ext cx="12165330" cy="990600"/>
          </a:xfrm>
          <a:prstGeom prst="rect">
            <a:avLst/>
          </a:prstGeom>
          <a:noFill/>
          <a:ln/>
        </p:spPr>
        <p:txBody>
          <a:bodyPr wrap="square" lIns="25400" tIns="25400" rIns="25400" bIns="25400" rtlCol="0" anchor="t">
            <a:normAutofit/>
          </a:bodyPr>
          <a:lstStyle/>
          <a:p>
            <a:pPr marL="0" indent="0" algn="l">
              <a:lnSpc>
                <a:spcPct val="121951"/>
              </a:lnSpc>
              <a:buNone/>
            </a:pPr>
            <a:r>
              <a:rPr lang="en-US" sz="2550" dirty="0">
                <a:solidFill>
                  <a:srgbClr val="F3F3F3">
                    <a:alpha val="72000"/>
                  </a:srgbClr>
                </a:solidFill>
                <a:latin typeface="Barlow" pitchFamily="34" charset="0"/>
                <a:ea typeface="Barlow" pitchFamily="34" charset="-122"/>
                <a:cs typeface="Barlow" pitchFamily="34" charset="-120"/>
              </a:rPr>
              <a:t>The Ansible → VCF Orchestrator transition, and net-new self-service VM provisioning. Seven projects: each briefed, then demonstrated live.</a:t>
            </a:r>
            <a:endParaRPr lang="en-US" sz="2550" dirty="0"/>
          </a:p>
        </p:txBody>
      </p:sp>
      <p:sp>
        <p:nvSpPr>
          <p:cNvPr id="6" name="Text 4"/>
          <p:cNvSpPr/>
          <p:nvPr/>
        </p:nvSpPr>
        <p:spPr>
          <a:xfrm>
            <a:off x="1257300" y="9085957"/>
            <a:ext cx="4997604"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F1F1F3">
                    <a:alpha val="50000"/>
                  </a:srgbClr>
                </a:solidFill>
                <a:latin typeface="Barlow" pitchFamily="34" charset="0"/>
                <a:ea typeface="Barlow" pitchFamily="34" charset="-122"/>
                <a:cs typeface="Barlow" pitchFamily="34" charset="-120"/>
              </a:rPr>
              <a:t>VCF Automation 9 / VCF Operations Orchestrator 9</a:t>
            </a:r>
            <a:endParaRPr lang="en-US" sz="1650" dirty="0"/>
          </a:p>
        </p:txBody>
      </p:sp>
      <p:sp>
        <p:nvSpPr>
          <p:cNvPr id="7" name="Text 5"/>
          <p:cNvSpPr/>
          <p:nvPr/>
        </p:nvSpPr>
        <p:spPr>
          <a:xfrm>
            <a:off x="5972026" y="9085957"/>
            <a:ext cx="120253"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F1F1F3">
                    <a:alpha val="50000"/>
                  </a:srgbClr>
                </a:solidFill>
                <a:latin typeface="Barlow" pitchFamily="34" charset="0"/>
                <a:ea typeface="Barlow" pitchFamily="34" charset="-122"/>
                <a:cs typeface="Barlow" pitchFamily="34" charset="-120"/>
              </a:rPr>
              <a:t>·</a:t>
            </a:r>
            <a:endParaRPr lang="en-US" sz="1650" dirty="0"/>
          </a:p>
        </p:txBody>
      </p:sp>
      <p:sp>
        <p:nvSpPr>
          <p:cNvPr id="8" name="Text 6"/>
          <p:cNvSpPr/>
          <p:nvPr/>
        </p:nvSpPr>
        <p:spPr>
          <a:xfrm>
            <a:off x="6187529" y="9085957"/>
            <a:ext cx="1194048"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F1F1F3">
                    <a:alpha val="50000"/>
                  </a:srgbClr>
                </a:solidFill>
                <a:latin typeface="Barlow" pitchFamily="34" charset="0"/>
                <a:ea typeface="Barlow" pitchFamily="34" charset="-122"/>
                <a:cs typeface="Barlow" pitchFamily="34" charset="-120"/>
              </a:rPr>
              <a:t>Unclassified</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OVERVIEW</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At A Glance</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3825180"/>
            <a:ext cx="7886700" cy="9525"/>
          </a:xfrm>
          <a:prstGeom prst="rect">
            <a:avLst/>
          </a:prstGeom>
          <a:solidFill>
            <a:srgbClr val="1F1F1F">
              <a:alpha val="16000"/>
            </a:srgbClr>
          </a:solidFill>
          <a:ln/>
        </p:spPr>
        <p:txBody>
          <a:bodyPr/>
          <a:lstStyle/>
          <a:p>
            <a:endParaRPr lang="en-US"/>
          </a:p>
        </p:txBody>
      </p:sp>
      <p:sp>
        <p:nvSpPr>
          <p:cNvPr id="6" name="Text 4"/>
          <p:cNvSpPr/>
          <p:nvPr/>
        </p:nvSpPr>
        <p:spPr>
          <a:xfrm>
            <a:off x="1257300" y="3020318"/>
            <a:ext cx="7818501" cy="719138"/>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24 → 9</a:t>
            </a:r>
            <a:endParaRPr lang="en-US" sz="2025" dirty="0"/>
          </a:p>
        </p:txBody>
      </p:sp>
      <p:sp>
        <p:nvSpPr>
          <p:cNvPr id="7" name="Shape 5"/>
          <p:cNvSpPr/>
          <p:nvPr/>
        </p:nvSpPr>
        <p:spPr>
          <a:xfrm>
            <a:off x="9144000" y="3825180"/>
            <a:ext cx="7886700" cy="9525"/>
          </a:xfrm>
          <a:prstGeom prst="rect">
            <a:avLst/>
          </a:prstGeom>
          <a:solidFill>
            <a:srgbClr val="1F1F1F">
              <a:alpha val="16000"/>
            </a:srgbClr>
          </a:solidFill>
          <a:ln/>
        </p:spPr>
        <p:txBody>
          <a:bodyPr/>
          <a:lstStyle/>
          <a:p>
            <a:endParaRPr lang="en-US"/>
          </a:p>
        </p:txBody>
      </p:sp>
      <p:sp>
        <p:nvSpPr>
          <p:cNvPr id="8" name="Text 6"/>
          <p:cNvSpPr/>
          <p:nvPr/>
        </p:nvSpPr>
        <p:spPr>
          <a:xfrm>
            <a:off x="9144000" y="2893218"/>
            <a:ext cx="8123301" cy="719138"/>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Ansible playbooks and job templates consolidated into Orchestrator workflows</a:t>
            </a:r>
            <a:endParaRPr lang="en-US" sz="1875" dirty="0"/>
          </a:p>
        </p:txBody>
      </p:sp>
      <p:sp>
        <p:nvSpPr>
          <p:cNvPr id="9" name="Shape 7"/>
          <p:cNvSpPr/>
          <p:nvPr/>
        </p:nvSpPr>
        <p:spPr>
          <a:xfrm>
            <a:off x="1196340" y="4753904"/>
            <a:ext cx="7886700" cy="9525"/>
          </a:xfrm>
          <a:prstGeom prst="rect">
            <a:avLst/>
          </a:prstGeom>
          <a:solidFill>
            <a:srgbClr val="1F1F1F">
              <a:alpha val="16000"/>
            </a:srgbClr>
          </a:solidFill>
          <a:ln/>
        </p:spPr>
        <p:txBody>
          <a:bodyPr/>
          <a:lstStyle/>
          <a:p>
            <a:endParaRPr lang="en-US"/>
          </a:p>
        </p:txBody>
      </p:sp>
      <p:sp>
        <p:nvSpPr>
          <p:cNvPr id="10" name="Text 8"/>
          <p:cNvSpPr/>
          <p:nvPr/>
        </p:nvSpPr>
        <p:spPr>
          <a:xfrm>
            <a:off x="1223200" y="4163928"/>
            <a:ext cx="7818501"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1 net-new</a:t>
            </a:r>
            <a:endParaRPr lang="en-US" sz="2025" dirty="0"/>
          </a:p>
        </p:txBody>
      </p:sp>
      <p:sp>
        <p:nvSpPr>
          <p:cNvPr id="11" name="Shape 9"/>
          <p:cNvSpPr/>
          <p:nvPr/>
        </p:nvSpPr>
        <p:spPr>
          <a:xfrm>
            <a:off x="9083040" y="4753904"/>
            <a:ext cx="7886700" cy="9525"/>
          </a:xfrm>
          <a:prstGeom prst="rect">
            <a:avLst/>
          </a:prstGeom>
          <a:solidFill>
            <a:srgbClr val="1F1F1F">
              <a:alpha val="16000"/>
            </a:srgbClr>
          </a:solidFill>
          <a:ln/>
        </p:spPr>
        <p:txBody>
          <a:bodyPr/>
          <a:lstStyle/>
          <a:p>
            <a:endParaRPr lang="en-US"/>
          </a:p>
        </p:txBody>
      </p:sp>
      <p:sp>
        <p:nvSpPr>
          <p:cNvPr id="12" name="Text 10"/>
          <p:cNvSpPr/>
          <p:nvPr/>
        </p:nvSpPr>
        <p:spPr>
          <a:xfrm>
            <a:off x="9083040" y="3974081"/>
            <a:ext cx="8123301" cy="749499"/>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A four-item self-service VM catalog, replacing manual ticket-driven builds workflows</a:t>
            </a:r>
            <a:endParaRPr lang="en-US" sz="1875" dirty="0"/>
          </a:p>
        </p:txBody>
      </p:sp>
      <p:sp>
        <p:nvSpPr>
          <p:cNvPr id="13" name="Shape 11"/>
          <p:cNvSpPr/>
          <p:nvPr/>
        </p:nvSpPr>
        <p:spPr>
          <a:xfrm>
            <a:off x="1203071" y="5357003"/>
            <a:ext cx="7886700" cy="9525"/>
          </a:xfrm>
          <a:prstGeom prst="rect">
            <a:avLst/>
          </a:prstGeom>
          <a:solidFill>
            <a:srgbClr val="1F1F1F">
              <a:alpha val="16000"/>
            </a:srgbClr>
          </a:solidFill>
          <a:ln/>
        </p:spPr>
        <p:txBody>
          <a:bodyPr/>
          <a:lstStyle/>
          <a:p>
            <a:endParaRPr lang="en-US"/>
          </a:p>
        </p:txBody>
      </p:sp>
      <p:sp>
        <p:nvSpPr>
          <p:cNvPr id="14" name="Text 12"/>
          <p:cNvSpPr/>
          <p:nvPr/>
        </p:nvSpPr>
        <p:spPr>
          <a:xfrm>
            <a:off x="1257299" y="4863048"/>
            <a:ext cx="7818501"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24 changes</a:t>
            </a:r>
            <a:endParaRPr lang="en-US" sz="2025" dirty="0"/>
          </a:p>
        </p:txBody>
      </p:sp>
      <p:sp>
        <p:nvSpPr>
          <p:cNvPr id="15" name="Shape 13"/>
          <p:cNvSpPr/>
          <p:nvPr/>
        </p:nvSpPr>
        <p:spPr>
          <a:xfrm>
            <a:off x="9089771" y="5357003"/>
            <a:ext cx="7886700" cy="9525"/>
          </a:xfrm>
          <a:prstGeom prst="rect">
            <a:avLst/>
          </a:prstGeom>
          <a:solidFill>
            <a:srgbClr val="1F1F1F">
              <a:alpha val="16000"/>
            </a:srgbClr>
          </a:solidFill>
          <a:ln/>
        </p:spPr>
        <p:txBody>
          <a:bodyPr/>
          <a:lstStyle/>
          <a:p>
            <a:endParaRPr lang="en-US"/>
          </a:p>
        </p:txBody>
      </p:sp>
      <p:sp>
        <p:nvSpPr>
          <p:cNvPr id="16" name="Text 14"/>
          <p:cNvSpPr/>
          <p:nvPr/>
        </p:nvSpPr>
        <p:spPr>
          <a:xfrm>
            <a:off x="9089771" y="4896556"/>
            <a:ext cx="8123301"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Hardening changes to the shared PowerShell toolbox</a:t>
            </a:r>
            <a:endParaRPr lang="en-US" sz="1875" dirty="0"/>
          </a:p>
        </p:txBody>
      </p:sp>
      <p:sp>
        <p:nvSpPr>
          <p:cNvPr id="17" name="Shape 15"/>
          <p:cNvSpPr/>
          <p:nvPr/>
        </p:nvSpPr>
        <p:spPr>
          <a:xfrm>
            <a:off x="1189101" y="5971580"/>
            <a:ext cx="7886700" cy="9525"/>
          </a:xfrm>
          <a:prstGeom prst="rect">
            <a:avLst/>
          </a:prstGeom>
          <a:solidFill>
            <a:srgbClr val="1F1F1F">
              <a:alpha val="16000"/>
            </a:srgbClr>
          </a:solidFill>
          <a:ln/>
        </p:spPr>
        <p:txBody>
          <a:bodyPr/>
          <a:lstStyle/>
          <a:p>
            <a:endParaRPr lang="en-US"/>
          </a:p>
        </p:txBody>
      </p:sp>
      <p:sp>
        <p:nvSpPr>
          <p:cNvPr id="18" name="Text 16"/>
          <p:cNvSpPr/>
          <p:nvPr/>
        </p:nvSpPr>
        <p:spPr>
          <a:xfrm>
            <a:off x="1189101" y="5504855"/>
            <a:ext cx="7818501"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15+ defects</a:t>
            </a:r>
            <a:endParaRPr lang="en-US" sz="2025" dirty="0"/>
          </a:p>
        </p:txBody>
      </p:sp>
      <p:sp>
        <p:nvSpPr>
          <p:cNvPr id="19" name="Shape 17"/>
          <p:cNvSpPr/>
          <p:nvPr/>
        </p:nvSpPr>
        <p:spPr>
          <a:xfrm>
            <a:off x="9075801" y="5971580"/>
            <a:ext cx="7886700" cy="9525"/>
          </a:xfrm>
          <a:prstGeom prst="rect">
            <a:avLst/>
          </a:prstGeom>
          <a:solidFill>
            <a:srgbClr val="1F1F1F">
              <a:alpha val="16000"/>
            </a:srgbClr>
          </a:solidFill>
          <a:ln/>
        </p:spPr>
        <p:txBody>
          <a:bodyPr/>
          <a:lstStyle/>
          <a:p>
            <a:endParaRPr lang="en-US"/>
          </a:p>
        </p:txBody>
      </p:sp>
      <p:sp>
        <p:nvSpPr>
          <p:cNvPr id="20" name="Text 18"/>
          <p:cNvSpPr/>
          <p:nvPr/>
        </p:nvSpPr>
        <p:spPr>
          <a:xfrm>
            <a:off x="9075801" y="5451204"/>
            <a:ext cx="8123301"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Pre-existing defects found and fixed — every one of them silent</a:t>
            </a:r>
            <a:endParaRPr lang="en-US" sz="1875" dirty="0"/>
          </a:p>
        </p:txBody>
      </p:sp>
      <p:sp>
        <p:nvSpPr>
          <p:cNvPr id="25" name="Text 23"/>
          <p:cNvSpPr/>
          <p:nvPr/>
        </p:nvSpPr>
        <p:spPr>
          <a:xfrm>
            <a:off x="1257300" y="6868418"/>
            <a:ext cx="17350740" cy="438150"/>
          </a:xfrm>
          <a:prstGeom prst="rect">
            <a:avLst/>
          </a:prstGeom>
          <a:noFill/>
          <a:ln/>
        </p:spPr>
        <p:txBody>
          <a:bodyPr wrap="square" lIns="25400" tIns="25400" rIns="25400" bIns="25400" rtlCol="0" anchor="t">
            <a:normAutofit/>
          </a:bodyPr>
          <a:lstStyle/>
          <a:p>
            <a:pPr marL="0" indent="0" algn="l">
              <a:lnSpc>
                <a:spcPct val="131250"/>
              </a:lnSpc>
              <a:buNone/>
            </a:pPr>
            <a:r>
              <a:rPr lang="en-US" sz="2025" dirty="0">
                <a:solidFill>
                  <a:srgbClr val="1D1F20"/>
                </a:solidFill>
                <a:latin typeface="Barlow" pitchFamily="34" charset="0"/>
                <a:ea typeface="Barlow" pitchFamily="34" charset="-122"/>
                <a:cs typeface="Barlow" pitchFamily="34" charset="-120"/>
              </a:rPr>
              <a:t>One workstream replaces automation; the other replaces manual work. Different starting points, one platform.</a:t>
            </a:r>
            <a:endParaRPr lang="en-US" sz="2025" dirty="0"/>
          </a:p>
        </p:txBody>
      </p:sp>
      <p:pic>
        <p:nvPicPr>
          <p:cNvPr id="26"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OVERVIEW</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Automation Projects</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3368873"/>
            <a:ext cx="5905500" cy="9525"/>
          </a:xfrm>
          <a:prstGeom prst="rect">
            <a:avLst/>
          </a:prstGeom>
          <a:solidFill>
            <a:srgbClr val="416180"/>
          </a:solidFill>
          <a:ln/>
        </p:spPr>
        <p:txBody>
          <a:bodyPr/>
          <a:lstStyle/>
          <a:p>
            <a:endParaRPr lang="en-US"/>
          </a:p>
        </p:txBody>
      </p:sp>
      <p:sp>
        <p:nvSpPr>
          <p:cNvPr id="6" name="Text 4"/>
          <p:cNvSpPr/>
          <p:nvPr/>
        </p:nvSpPr>
        <p:spPr>
          <a:xfrm>
            <a:off x="1257300" y="2896493"/>
            <a:ext cx="5777865" cy="358080"/>
          </a:xfrm>
          <a:prstGeom prst="rect">
            <a:avLst/>
          </a:prstGeom>
          <a:noFill/>
          <a:ln/>
        </p:spPr>
        <p:txBody>
          <a:bodyPr wrap="square" lIns="25400" tIns="25400" rIns="25400" bIns="25400" rtlCol="0" anchor="ctr">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PROJECT</a:t>
            </a:r>
            <a:endParaRPr lang="en-US" sz="1650" dirty="0"/>
          </a:p>
        </p:txBody>
      </p:sp>
      <p:sp>
        <p:nvSpPr>
          <p:cNvPr id="7" name="Shape 5"/>
          <p:cNvSpPr/>
          <p:nvPr/>
        </p:nvSpPr>
        <p:spPr>
          <a:xfrm>
            <a:off x="7162800" y="3368873"/>
            <a:ext cx="4572000" cy="9525"/>
          </a:xfrm>
          <a:prstGeom prst="rect">
            <a:avLst/>
          </a:prstGeom>
          <a:solidFill>
            <a:srgbClr val="416180"/>
          </a:solidFill>
          <a:ln/>
        </p:spPr>
        <p:txBody>
          <a:bodyPr/>
          <a:lstStyle/>
          <a:p>
            <a:endParaRPr lang="en-US"/>
          </a:p>
        </p:txBody>
      </p:sp>
      <p:sp>
        <p:nvSpPr>
          <p:cNvPr id="8" name="Text 6"/>
          <p:cNvSpPr/>
          <p:nvPr/>
        </p:nvSpPr>
        <p:spPr>
          <a:xfrm>
            <a:off x="7162800" y="2896493"/>
            <a:ext cx="4404360" cy="358080"/>
          </a:xfrm>
          <a:prstGeom prst="rect">
            <a:avLst/>
          </a:prstGeom>
          <a:noFill/>
          <a:ln/>
        </p:spPr>
        <p:txBody>
          <a:bodyPr wrap="square" lIns="25400" tIns="25400" rIns="25400" bIns="25400" rtlCol="0" anchor="ctr">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WAS</a:t>
            </a:r>
            <a:endParaRPr lang="en-US" sz="1650" dirty="0"/>
          </a:p>
        </p:txBody>
      </p:sp>
      <p:sp>
        <p:nvSpPr>
          <p:cNvPr id="9" name="Shape 7"/>
          <p:cNvSpPr/>
          <p:nvPr/>
        </p:nvSpPr>
        <p:spPr>
          <a:xfrm>
            <a:off x="11734800" y="3368873"/>
            <a:ext cx="5295900" cy="9525"/>
          </a:xfrm>
          <a:prstGeom prst="rect">
            <a:avLst/>
          </a:prstGeom>
          <a:solidFill>
            <a:srgbClr val="416180"/>
          </a:solidFill>
          <a:ln/>
        </p:spPr>
        <p:txBody>
          <a:bodyPr/>
          <a:lstStyle/>
          <a:p>
            <a:endParaRPr lang="en-US"/>
          </a:p>
        </p:txBody>
      </p:sp>
      <p:sp>
        <p:nvSpPr>
          <p:cNvPr id="10" name="Text 8"/>
          <p:cNvSpPr/>
          <p:nvPr/>
        </p:nvSpPr>
        <p:spPr>
          <a:xfrm>
            <a:off x="11734800" y="2896493"/>
            <a:ext cx="5454777" cy="358080"/>
          </a:xfrm>
          <a:prstGeom prst="rect">
            <a:avLst/>
          </a:prstGeom>
          <a:noFill/>
          <a:ln/>
        </p:spPr>
        <p:txBody>
          <a:bodyPr wrap="square" lIns="25400" tIns="25400" rIns="25400" bIns="25400" rtlCol="0" anchor="ctr">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IS</a:t>
            </a:r>
            <a:endParaRPr lang="en-US" sz="1650" dirty="0"/>
          </a:p>
        </p:txBody>
      </p:sp>
      <p:sp>
        <p:nvSpPr>
          <p:cNvPr id="11" name="Shape 9"/>
          <p:cNvSpPr/>
          <p:nvPr/>
        </p:nvSpPr>
        <p:spPr>
          <a:xfrm>
            <a:off x="1257300" y="3968948"/>
            <a:ext cx="5905500" cy="9525"/>
          </a:xfrm>
          <a:prstGeom prst="rect">
            <a:avLst/>
          </a:prstGeom>
          <a:solidFill>
            <a:srgbClr val="1F1F1F">
              <a:alpha val="16000"/>
            </a:srgbClr>
          </a:solidFill>
          <a:ln/>
        </p:spPr>
        <p:txBody>
          <a:bodyPr/>
          <a:lstStyle/>
          <a:p>
            <a:endParaRPr lang="en-US"/>
          </a:p>
        </p:txBody>
      </p:sp>
      <p:sp>
        <p:nvSpPr>
          <p:cNvPr id="12" name="Text 10"/>
          <p:cNvSpPr/>
          <p:nvPr/>
        </p:nvSpPr>
        <p:spPr>
          <a:xfrm>
            <a:off x="1257300" y="3502223"/>
            <a:ext cx="5777865"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01 Self-Service VM Provisioning</a:t>
            </a:r>
            <a:endParaRPr lang="en-US" sz="2025" dirty="0"/>
          </a:p>
        </p:txBody>
      </p:sp>
      <p:sp>
        <p:nvSpPr>
          <p:cNvPr id="13" name="Shape 11"/>
          <p:cNvSpPr/>
          <p:nvPr/>
        </p:nvSpPr>
        <p:spPr>
          <a:xfrm>
            <a:off x="7162800" y="3968948"/>
            <a:ext cx="4572000" cy="9525"/>
          </a:xfrm>
          <a:prstGeom prst="rect">
            <a:avLst/>
          </a:prstGeom>
          <a:solidFill>
            <a:srgbClr val="1F1F1F">
              <a:alpha val="16000"/>
            </a:srgbClr>
          </a:solidFill>
          <a:ln/>
        </p:spPr>
        <p:txBody>
          <a:bodyPr/>
          <a:lstStyle/>
          <a:p>
            <a:endParaRPr lang="en-US"/>
          </a:p>
        </p:txBody>
      </p:sp>
      <p:sp>
        <p:nvSpPr>
          <p:cNvPr id="14" name="Text 12"/>
          <p:cNvSpPr/>
          <p:nvPr/>
        </p:nvSpPr>
        <p:spPr>
          <a:xfrm>
            <a:off x="7162800" y="3502223"/>
            <a:ext cx="4404360"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1">
                    <a:alpha val="55000"/>
                  </a:srgbClr>
                </a:solidFill>
                <a:latin typeface="Barlow" pitchFamily="34" charset="0"/>
                <a:ea typeface="Barlow" pitchFamily="34" charset="-122"/>
                <a:cs typeface="Barlow" pitchFamily="34" charset="-120"/>
              </a:rPr>
              <a:t>Manual, ticket-driven builds</a:t>
            </a:r>
            <a:endParaRPr lang="en-US" sz="1875" dirty="0"/>
          </a:p>
        </p:txBody>
      </p:sp>
      <p:sp>
        <p:nvSpPr>
          <p:cNvPr id="15" name="Shape 13"/>
          <p:cNvSpPr/>
          <p:nvPr/>
        </p:nvSpPr>
        <p:spPr>
          <a:xfrm>
            <a:off x="11734800" y="3968948"/>
            <a:ext cx="5295900" cy="9525"/>
          </a:xfrm>
          <a:prstGeom prst="rect">
            <a:avLst/>
          </a:prstGeom>
          <a:solidFill>
            <a:srgbClr val="1F1F1F">
              <a:alpha val="16000"/>
            </a:srgbClr>
          </a:solidFill>
          <a:ln/>
        </p:spPr>
        <p:txBody>
          <a:bodyPr/>
          <a:lstStyle/>
          <a:p>
            <a:endParaRPr lang="en-US"/>
          </a:p>
        </p:txBody>
      </p:sp>
      <p:sp>
        <p:nvSpPr>
          <p:cNvPr id="16" name="Text 14"/>
          <p:cNvSpPr/>
          <p:nvPr/>
        </p:nvSpPr>
        <p:spPr>
          <a:xfrm>
            <a:off x="11734800" y="3502223"/>
            <a:ext cx="5454777"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4 catalog items — net-new</a:t>
            </a:r>
            <a:endParaRPr lang="en-US" sz="1875" dirty="0"/>
          </a:p>
        </p:txBody>
      </p:sp>
      <p:sp>
        <p:nvSpPr>
          <p:cNvPr id="17" name="Shape 15"/>
          <p:cNvSpPr/>
          <p:nvPr/>
        </p:nvSpPr>
        <p:spPr>
          <a:xfrm>
            <a:off x="1257300" y="4569023"/>
            <a:ext cx="5905500" cy="9525"/>
          </a:xfrm>
          <a:prstGeom prst="rect">
            <a:avLst/>
          </a:prstGeom>
          <a:solidFill>
            <a:srgbClr val="1F1F1F">
              <a:alpha val="16000"/>
            </a:srgbClr>
          </a:solidFill>
          <a:ln/>
        </p:spPr>
        <p:txBody>
          <a:bodyPr/>
          <a:lstStyle/>
          <a:p>
            <a:endParaRPr lang="en-US"/>
          </a:p>
        </p:txBody>
      </p:sp>
      <p:sp>
        <p:nvSpPr>
          <p:cNvPr id="18" name="Text 16"/>
          <p:cNvSpPr/>
          <p:nvPr/>
        </p:nvSpPr>
        <p:spPr>
          <a:xfrm>
            <a:off x="1257300" y="4102298"/>
            <a:ext cx="5777865"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02 Server Reboot Report</a:t>
            </a:r>
            <a:endParaRPr lang="en-US" sz="2025" dirty="0"/>
          </a:p>
        </p:txBody>
      </p:sp>
      <p:sp>
        <p:nvSpPr>
          <p:cNvPr id="19" name="Shape 17"/>
          <p:cNvSpPr/>
          <p:nvPr/>
        </p:nvSpPr>
        <p:spPr>
          <a:xfrm>
            <a:off x="7162800" y="4569023"/>
            <a:ext cx="4572000" cy="9525"/>
          </a:xfrm>
          <a:prstGeom prst="rect">
            <a:avLst/>
          </a:prstGeom>
          <a:solidFill>
            <a:srgbClr val="1F1F1F">
              <a:alpha val="16000"/>
            </a:srgbClr>
          </a:solidFill>
          <a:ln/>
        </p:spPr>
        <p:txBody>
          <a:bodyPr/>
          <a:lstStyle/>
          <a:p>
            <a:endParaRPr lang="en-US"/>
          </a:p>
        </p:txBody>
      </p:sp>
      <p:sp>
        <p:nvSpPr>
          <p:cNvPr id="20" name="Text 18"/>
          <p:cNvSpPr/>
          <p:nvPr/>
        </p:nvSpPr>
        <p:spPr>
          <a:xfrm>
            <a:off x="7162800" y="4102298"/>
            <a:ext cx="4404360"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1">
                    <a:alpha val="55000"/>
                  </a:srgbClr>
                </a:solidFill>
                <a:latin typeface="Barlow" pitchFamily="34" charset="0"/>
                <a:ea typeface="Barlow" pitchFamily="34" charset="-122"/>
                <a:cs typeface="Barlow" pitchFamily="34" charset="-120"/>
              </a:rPr>
              <a:t>2 playbooks</a:t>
            </a:r>
            <a:endParaRPr lang="en-US" sz="1875" dirty="0"/>
          </a:p>
        </p:txBody>
      </p:sp>
      <p:sp>
        <p:nvSpPr>
          <p:cNvPr id="21" name="Shape 19"/>
          <p:cNvSpPr/>
          <p:nvPr/>
        </p:nvSpPr>
        <p:spPr>
          <a:xfrm>
            <a:off x="11734800" y="4569023"/>
            <a:ext cx="5295900" cy="9525"/>
          </a:xfrm>
          <a:prstGeom prst="rect">
            <a:avLst/>
          </a:prstGeom>
          <a:solidFill>
            <a:srgbClr val="1F1F1F">
              <a:alpha val="16000"/>
            </a:srgbClr>
          </a:solidFill>
          <a:ln/>
        </p:spPr>
        <p:txBody>
          <a:bodyPr/>
          <a:lstStyle/>
          <a:p>
            <a:endParaRPr lang="en-US"/>
          </a:p>
        </p:txBody>
      </p:sp>
      <p:sp>
        <p:nvSpPr>
          <p:cNvPr id="22" name="Text 20"/>
          <p:cNvSpPr/>
          <p:nvPr/>
        </p:nvSpPr>
        <p:spPr>
          <a:xfrm>
            <a:off x="11734800" y="4102298"/>
            <a:ext cx="5454777"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1 read-only workflow</a:t>
            </a:r>
            <a:endParaRPr lang="en-US" sz="1875" dirty="0"/>
          </a:p>
        </p:txBody>
      </p:sp>
      <p:sp>
        <p:nvSpPr>
          <p:cNvPr id="23" name="Shape 21"/>
          <p:cNvSpPr/>
          <p:nvPr/>
        </p:nvSpPr>
        <p:spPr>
          <a:xfrm>
            <a:off x="1257300" y="5169098"/>
            <a:ext cx="5905500" cy="9525"/>
          </a:xfrm>
          <a:prstGeom prst="rect">
            <a:avLst/>
          </a:prstGeom>
          <a:solidFill>
            <a:srgbClr val="1F1F1F">
              <a:alpha val="16000"/>
            </a:srgbClr>
          </a:solidFill>
          <a:ln/>
        </p:spPr>
        <p:txBody>
          <a:bodyPr/>
          <a:lstStyle/>
          <a:p>
            <a:endParaRPr lang="en-US"/>
          </a:p>
        </p:txBody>
      </p:sp>
      <p:sp>
        <p:nvSpPr>
          <p:cNvPr id="24" name="Text 22"/>
          <p:cNvSpPr/>
          <p:nvPr/>
        </p:nvSpPr>
        <p:spPr>
          <a:xfrm>
            <a:off x="1257300" y="4702373"/>
            <a:ext cx="5777865"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03 Admin Accounts Report</a:t>
            </a:r>
            <a:endParaRPr lang="en-US" sz="2025" dirty="0"/>
          </a:p>
        </p:txBody>
      </p:sp>
      <p:sp>
        <p:nvSpPr>
          <p:cNvPr id="25" name="Shape 23"/>
          <p:cNvSpPr/>
          <p:nvPr/>
        </p:nvSpPr>
        <p:spPr>
          <a:xfrm>
            <a:off x="7162800" y="5169098"/>
            <a:ext cx="4572000" cy="9525"/>
          </a:xfrm>
          <a:prstGeom prst="rect">
            <a:avLst/>
          </a:prstGeom>
          <a:solidFill>
            <a:srgbClr val="1F1F1F">
              <a:alpha val="16000"/>
            </a:srgbClr>
          </a:solidFill>
          <a:ln/>
        </p:spPr>
        <p:txBody>
          <a:bodyPr/>
          <a:lstStyle/>
          <a:p>
            <a:endParaRPr lang="en-US"/>
          </a:p>
        </p:txBody>
      </p:sp>
      <p:sp>
        <p:nvSpPr>
          <p:cNvPr id="26" name="Text 24"/>
          <p:cNvSpPr/>
          <p:nvPr/>
        </p:nvSpPr>
        <p:spPr>
          <a:xfrm>
            <a:off x="7162800" y="4702373"/>
            <a:ext cx="4404360"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1">
                    <a:alpha val="55000"/>
                  </a:srgbClr>
                </a:solidFill>
                <a:latin typeface="Barlow" pitchFamily="34" charset="0"/>
                <a:ea typeface="Barlow" pitchFamily="34" charset="-122"/>
                <a:cs typeface="Barlow" pitchFamily="34" charset="-120"/>
              </a:rPr>
              <a:t>3 templates, 2 on a forked script</a:t>
            </a:r>
            <a:endParaRPr lang="en-US" sz="1875" dirty="0"/>
          </a:p>
        </p:txBody>
      </p:sp>
      <p:sp>
        <p:nvSpPr>
          <p:cNvPr id="27" name="Shape 25"/>
          <p:cNvSpPr/>
          <p:nvPr/>
        </p:nvSpPr>
        <p:spPr>
          <a:xfrm>
            <a:off x="11734800" y="5169098"/>
            <a:ext cx="5295900" cy="9525"/>
          </a:xfrm>
          <a:prstGeom prst="rect">
            <a:avLst/>
          </a:prstGeom>
          <a:solidFill>
            <a:srgbClr val="1F1F1F">
              <a:alpha val="16000"/>
            </a:srgbClr>
          </a:solidFill>
          <a:ln/>
        </p:spPr>
        <p:txBody>
          <a:bodyPr/>
          <a:lstStyle/>
          <a:p>
            <a:endParaRPr lang="en-US"/>
          </a:p>
        </p:txBody>
      </p:sp>
      <p:sp>
        <p:nvSpPr>
          <p:cNvPr id="28" name="Text 26"/>
          <p:cNvSpPr/>
          <p:nvPr/>
        </p:nvSpPr>
        <p:spPr>
          <a:xfrm>
            <a:off x="11734800" y="4702373"/>
            <a:ext cx="5454777"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1 workflow, one shared script</a:t>
            </a:r>
            <a:endParaRPr lang="en-US" sz="1875" dirty="0"/>
          </a:p>
        </p:txBody>
      </p:sp>
      <p:sp>
        <p:nvSpPr>
          <p:cNvPr id="29" name="Shape 27"/>
          <p:cNvSpPr/>
          <p:nvPr/>
        </p:nvSpPr>
        <p:spPr>
          <a:xfrm>
            <a:off x="1257300" y="5769173"/>
            <a:ext cx="5905500" cy="9525"/>
          </a:xfrm>
          <a:prstGeom prst="rect">
            <a:avLst/>
          </a:prstGeom>
          <a:solidFill>
            <a:srgbClr val="1F1F1F">
              <a:alpha val="16000"/>
            </a:srgbClr>
          </a:solidFill>
          <a:ln/>
        </p:spPr>
        <p:txBody>
          <a:bodyPr/>
          <a:lstStyle/>
          <a:p>
            <a:endParaRPr lang="en-US"/>
          </a:p>
        </p:txBody>
      </p:sp>
      <p:sp>
        <p:nvSpPr>
          <p:cNvPr id="30" name="Text 28"/>
          <p:cNvSpPr/>
          <p:nvPr/>
        </p:nvSpPr>
        <p:spPr>
          <a:xfrm>
            <a:off x="1257300" y="5302448"/>
            <a:ext cx="5777865"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04 Service Account Expiration</a:t>
            </a:r>
            <a:endParaRPr lang="en-US" sz="2025" dirty="0"/>
          </a:p>
        </p:txBody>
      </p:sp>
      <p:sp>
        <p:nvSpPr>
          <p:cNvPr id="31" name="Shape 29"/>
          <p:cNvSpPr/>
          <p:nvPr/>
        </p:nvSpPr>
        <p:spPr>
          <a:xfrm>
            <a:off x="7162800" y="5769173"/>
            <a:ext cx="4572000" cy="9525"/>
          </a:xfrm>
          <a:prstGeom prst="rect">
            <a:avLst/>
          </a:prstGeom>
          <a:solidFill>
            <a:srgbClr val="1F1F1F">
              <a:alpha val="16000"/>
            </a:srgbClr>
          </a:solidFill>
          <a:ln/>
        </p:spPr>
        <p:txBody>
          <a:bodyPr/>
          <a:lstStyle/>
          <a:p>
            <a:endParaRPr lang="en-US"/>
          </a:p>
        </p:txBody>
      </p:sp>
      <p:sp>
        <p:nvSpPr>
          <p:cNvPr id="32" name="Text 30"/>
          <p:cNvSpPr/>
          <p:nvPr/>
        </p:nvSpPr>
        <p:spPr>
          <a:xfrm>
            <a:off x="7162800" y="5302448"/>
            <a:ext cx="4404360"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1">
                    <a:alpha val="55000"/>
                  </a:srgbClr>
                </a:solidFill>
                <a:latin typeface="Barlow" pitchFamily="34" charset="0"/>
                <a:ea typeface="Barlow" pitchFamily="34" charset="-122"/>
                <a:cs typeface="Barlow" pitchFamily="34" charset="-120"/>
              </a:rPr>
              <a:t>1 job template</a:t>
            </a:r>
            <a:endParaRPr lang="en-US" sz="1875" dirty="0"/>
          </a:p>
        </p:txBody>
      </p:sp>
      <p:sp>
        <p:nvSpPr>
          <p:cNvPr id="33" name="Shape 31"/>
          <p:cNvSpPr/>
          <p:nvPr/>
        </p:nvSpPr>
        <p:spPr>
          <a:xfrm>
            <a:off x="11734800" y="5769173"/>
            <a:ext cx="5295900" cy="9525"/>
          </a:xfrm>
          <a:prstGeom prst="rect">
            <a:avLst/>
          </a:prstGeom>
          <a:solidFill>
            <a:srgbClr val="1F1F1F">
              <a:alpha val="16000"/>
            </a:srgbClr>
          </a:solidFill>
          <a:ln/>
        </p:spPr>
        <p:txBody>
          <a:bodyPr/>
          <a:lstStyle/>
          <a:p>
            <a:endParaRPr lang="en-US"/>
          </a:p>
        </p:txBody>
      </p:sp>
      <p:sp>
        <p:nvSpPr>
          <p:cNvPr id="34" name="Text 32"/>
          <p:cNvSpPr/>
          <p:nvPr/>
        </p:nvSpPr>
        <p:spPr>
          <a:xfrm>
            <a:off x="11734800" y="5302448"/>
            <a:ext cx="5454777"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1 workflow — in progress</a:t>
            </a:r>
            <a:endParaRPr lang="en-US" sz="1875" dirty="0"/>
          </a:p>
        </p:txBody>
      </p:sp>
      <p:sp>
        <p:nvSpPr>
          <p:cNvPr id="35" name="Shape 33"/>
          <p:cNvSpPr/>
          <p:nvPr/>
        </p:nvSpPr>
        <p:spPr>
          <a:xfrm>
            <a:off x="1257300" y="6369248"/>
            <a:ext cx="5905500" cy="9525"/>
          </a:xfrm>
          <a:prstGeom prst="rect">
            <a:avLst/>
          </a:prstGeom>
          <a:solidFill>
            <a:srgbClr val="1F1F1F">
              <a:alpha val="16000"/>
            </a:srgbClr>
          </a:solidFill>
          <a:ln/>
        </p:spPr>
        <p:txBody>
          <a:bodyPr/>
          <a:lstStyle/>
          <a:p>
            <a:endParaRPr lang="en-US"/>
          </a:p>
        </p:txBody>
      </p:sp>
      <p:sp>
        <p:nvSpPr>
          <p:cNvPr id="36" name="Text 34"/>
          <p:cNvSpPr/>
          <p:nvPr/>
        </p:nvSpPr>
        <p:spPr>
          <a:xfrm>
            <a:off x="1257300" y="5902523"/>
            <a:ext cx="5777865"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05 Move Windows Event Logs</a:t>
            </a:r>
            <a:endParaRPr lang="en-US" sz="2025" dirty="0"/>
          </a:p>
        </p:txBody>
      </p:sp>
      <p:sp>
        <p:nvSpPr>
          <p:cNvPr id="37" name="Shape 35"/>
          <p:cNvSpPr/>
          <p:nvPr/>
        </p:nvSpPr>
        <p:spPr>
          <a:xfrm>
            <a:off x="7162800" y="6369248"/>
            <a:ext cx="4572000" cy="9525"/>
          </a:xfrm>
          <a:prstGeom prst="rect">
            <a:avLst/>
          </a:prstGeom>
          <a:solidFill>
            <a:srgbClr val="1F1F1F">
              <a:alpha val="16000"/>
            </a:srgbClr>
          </a:solidFill>
          <a:ln/>
        </p:spPr>
        <p:txBody>
          <a:bodyPr/>
          <a:lstStyle/>
          <a:p>
            <a:endParaRPr lang="en-US"/>
          </a:p>
        </p:txBody>
      </p:sp>
      <p:sp>
        <p:nvSpPr>
          <p:cNvPr id="38" name="Text 36"/>
          <p:cNvSpPr/>
          <p:nvPr/>
        </p:nvSpPr>
        <p:spPr>
          <a:xfrm>
            <a:off x="7162800" y="5902523"/>
            <a:ext cx="4404360"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1">
                    <a:alpha val="55000"/>
                  </a:srgbClr>
                </a:solidFill>
                <a:latin typeface="Barlow" pitchFamily="34" charset="0"/>
                <a:ea typeface="Barlow" pitchFamily="34" charset="-122"/>
                <a:cs typeface="Barlow" pitchFamily="34" charset="-120"/>
              </a:rPr>
              <a:t>7 playbooks</a:t>
            </a:r>
            <a:endParaRPr lang="en-US" sz="1875" dirty="0"/>
          </a:p>
        </p:txBody>
      </p:sp>
      <p:sp>
        <p:nvSpPr>
          <p:cNvPr id="39" name="Shape 37"/>
          <p:cNvSpPr/>
          <p:nvPr/>
        </p:nvSpPr>
        <p:spPr>
          <a:xfrm>
            <a:off x="11734800" y="6369248"/>
            <a:ext cx="5295900" cy="9525"/>
          </a:xfrm>
          <a:prstGeom prst="rect">
            <a:avLst/>
          </a:prstGeom>
          <a:solidFill>
            <a:srgbClr val="1F1F1F">
              <a:alpha val="16000"/>
            </a:srgbClr>
          </a:solidFill>
          <a:ln/>
        </p:spPr>
        <p:txBody>
          <a:bodyPr/>
          <a:lstStyle/>
          <a:p>
            <a:endParaRPr lang="en-US"/>
          </a:p>
        </p:txBody>
      </p:sp>
      <p:sp>
        <p:nvSpPr>
          <p:cNvPr id="40" name="Text 38"/>
          <p:cNvSpPr/>
          <p:nvPr/>
        </p:nvSpPr>
        <p:spPr>
          <a:xfrm>
            <a:off x="11734800" y="5902523"/>
            <a:ext cx="5454777"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2 workflows</a:t>
            </a:r>
            <a:endParaRPr lang="en-US" sz="1875" dirty="0"/>
          </a:p>
        </p:txBody>
      </p:sp>
      <p:sp>
        <p:nvSpPr>
          <p:cNvPr id="41" name="Shape 39"/>
          <p:cNvSpPr/>
          <p:nvPr/>
        </p:nvSpPr>
        <p:spPr>
          <a:xfrm>
            <a:off x="1257300" y="6969323"/>
            <a:ext cx="5905500" cy="9525"/>
          </a:xfrm>
          <a:prstGeom prst="rect">
            <a:avLst/>
          </a:prstGeom>
          <a:solidFill>
            <a:srgbClr val="1F1F1F">
              <a:alpha val="16000"/>
            </a:srgbClr>
          </a:solidFill>
          <a:ln/>
        </p:spPr>
        <p:txBody>
          <a:bodyPr/>
          <a:lstStyle/>
          <a:p>
            <a:endParaRPr lang="en-US"/>
          </a:p>
        </p:txBody>
      </p:sp>
      <p:sp>
        <p:nvSpPr>
          <p:cNvPr id="42" name="Text 40"/>
          <p:cNvSpPr/>
          <p:nvPr/>
        </p:nvSpPr>
        <p:spPr>
          <a:xfrm>
            <a:off x="1257300" y="6502598"/>
            <a:ext cx="5777865"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06 Windows Server Clean Disks</a:t>
            </a:r>
            <a:endParaRPr lang="en-US" sz="2025" dirty="0"/>
          </a:p>
        </p:txBody>
      </p:sp>
      <p:sp>
        <p:nvSpPr>
          <p:cNvPr id="43" name="Shape 41"/>
          <p:cNvSpPr/>
          <p:nvPr/>
        </p:nvSpPr>
        <p:spPr>
          <a:xfrm>
            <a:off x="7162800" y="6969323"/>
            <a:ext cx="4572000" cy="9525"/>
          </a:xfrm>
          <a:prstGeom prst="rect">
            <a:avLst/>
          </a:prstGeom>
          <a:solidFill>
            <a:srgbClr val="1F1F1F">
              <a:alpha val="16000"/>
            </a:srgbClr>
          </a:solidFill>
          <a:ln/>
        </p:spPr>
        <p:txBody>
          <a:bodyPr/>
          <a:lstStyle/>
          <a:p>
            <a:endParaRPr lang="en-US"/>
          </a:p>
        </p:txBody>
      </p:sp>
      <p:sp>
        <p:nvSpPr>
          <p:cNvPr id="44" name="Text 42"/>
          <p:cNvSpPr/>
          <p:nvPr/>
        </p:nvSpPr>
        <p:spPr>
          <a:xfrm>
            <a:off x="7162800" y="6502598"/>
            <a:ext cx="4404360"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1">
                    <a:alpha val="55000"/>
                  </a:srgbClr>
                </a:solidFill>
                <a:latin typeface="Barlow" pitchFamily="34" charset="0"/>
                <a:ea typeface="Barlow" pitchFamily="34" charset="-122"/>
                <a:cs typeface="Barlow" pitchFamily="34" charset="-120"/>
              </a:rPr>
              <a:t>8 job templates</a:t>
            </a:r>
            <a:endParaRPr lang="en-US" sz="1875" dirty="0"/>
          </a:p>
        </p:txBody>
      </p:sp>
      <p:sp>
        <p:nvSpPr>
          <p:cNvPr id="45" name="Shape 43"/>
          <p:cNvSpPr/>
          <p:nvPr/>
        </p:nvSpPr>
        <p:spPr>
          <a:xfrm>
            <a:off x="11734800" y="6969323"/>
            <a:ext cx="5295900" cy="9525"/>
          </a:xfrm>
          <a:prstGeom prst="rect">
            <a:avLst/>
          </a:prstGeom>
          <a:solidFill>
            <a:srgbClr val="1F1F1F">
              <a:alpha val="16000"/>
            </a:srgbClr>
          </a:solidFill>
          <a:ln/>
        </p:spPr>
        <p:txBody>
          <a:bodyPr/>
          <a:lstStyle/>
          <a:p>
            <a:endParaRPr lang="en-US"/>
          </a:p>
        </p:txBody>
      </p:sp>
      <p:sp>
        <p:nvSpPr>
          <p:cNvPr id="46" name="Text 44"/>
          <p:cNvSpPr/>
          <p:nvPr/>
        </p:nvSpPr>
        <p:spPr>
          <a:xfrm>
            <a:off x="11734800" y="6502598"/>
            <a:ext cx="5454777"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1 workflow — first destructive</a:t>
            </a:r>
            <a:endParaRPr lang="en-US" sz="1875" dirty="0"/>
          </a:p>
        </p:txBody>
      </p:sp>
      <p:sp>
        <p:nvSpPr>
          <p:cNvPr id="47" name="Shape 45"/>
          <p:cNvSpPr/>
          <p:nvPr/>
        </p:nvSpPr>
        <p:spPr>
          <a:xfrm>
            <a:off x="1257300" y="7569398"/>
            <a:ext cx="5905500" cy="9525"/>
          </a:xfrm>
          <a:prstGeom prst="rect">
            <a:avLst/>
          </a:prstGeom>
          <a:solidFill>
            <a:srgbClr val="1F1F1F">
              <a:alpha val="16000"/>
            </a:srgbClr>
          </a:solidFill>
          <a:ln/>
        </p:spPr>
        <p:txBody>
          <a:bodyPr/>
          <a:lstStyle/>
          <a:p>
            <a:endParaRPr lang="en-US"/>
          </a:p>
        </p:txBody>
      </p:sp>
      <p:sp>
        <p:nvSpPr>
          <p:cNvPr id="48" name="Text 46"/>
          <p:cNvSpPr/>
          <p:nvPr/>
        </p:nvSpPr>
        <p:spPr>
          <a:xfrm>
            <a:off x="1257300" y="7102673"/>
            <a:ext cx="5777865" cy="381000"/>
          </a:xfrm>
          <a:prstGeom prst="rect">
            <a:avLst/>
          </a:prstGeom>
          <a:noFill/>
          <a:ln/>
        </p:spPr>
        <p:txBody>
          <a:bodyPr wrap="square" lIns="25400" tIns="25400" rIns="25400" bIns="25400" rtlCol="0" anchor="t">
            <a:normAutofit/>
          </a:bodyPr>
          <a:lstStyle/>
          <a:p>
            <a:pPr marL="0" indent="0" algn="l">
              <a:lnSpc>
                <a:spcPct val="112500"/>
              </a:lnSpc>
              <a:buNone/>
            </a:pPr>
            <a:r>
              <a:rPr lang="en-US" sz="2025" b="1" dirty="0">
                <a:solidFill>
                  <a:srgbClr val="1D1F20"/>
                </a:solidFill>
                <a:latin typeface="Barlow Condensed" pitchFamily="34" charset="0"/>
                <a:ea typeface="Barlow Condensed" pitchFamily="34" charset="-122"/>
                <a:cs typeface="Barlow Condensed" pitchFamily="34" charset="-120"/>
              </a:rPr>
              <a:t>07 Server Reboots</a:t>
            </a:r>
            <a:endParaRPr lang="en-US" sz="2025" dirty="0"/>
          </a:p>
        </p:txBody>
      </p:sp>
      <p:sp>
        <p:nvSpPr>
          <p:cNvPr id="49" name="Shape 47"/>
          <p:cNvSpPr/>
          <p:nvPr/>
        </p:nvSpPr>
        <p:spPr>
          <a:xfrm>
            <a:off x="7162800" y="7569398"/>
            <a:ext cx="4572000" cy="9525"/>
          </a:xfrm>
          <a:prstGeom prst="rect">
            <a:avLst/>
          </a:prstGeom>
          <a:solidFill>
            <a:srgbClr val="1F1F1F">
              <a:alpha val="16000"/>
            </a:srgbClr>
          </a:solidFill>
          <a:ln/>
        </p:spPr>
        <p:txBody>
          <a:bodyPr/>
          <a:lstStyle/>
          <a:p>
            <a:endParaRPr lang="en-US"/>
          </a:p>
        </p:txBody>
      </p:sp>
      <p:sp>
        <p:nvSpPr>
          <p:cNvPr id="50" name="Text 48"/>
          <p:cNvSpPr/>
          <p:nvPr/>
        </p:nvSpPr>
        <p:spPr>
          <a:xfrm>
            <a:off x="7162800" y="7102673"/>
            <a:ext cx="4404360"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1">
                    <a:alpha val="55000"/>
                  </a:srgbClr>
                </a:solidFill>
                <a:latin typeface="Barlow" pitchFamily="34" charset="0"/>
                <a:ea typeface="Barlow" pitchFamily="34" charset="-122"/>
                <a:cs typeface="Barlow" pitchFamily="34" charset="-120"/>
              </a:rPr>
              <a:t>1 playbook</a:t>
            </a:r>
            <a:endParaRPr lang="en-US" sz="1875" dirty="0"/>
          </a:p>
        </p:txBody>
      </p:sp>
      <p:sp>
        <p:nvSpPr>
          <p:cNvPr id="51" name="Shape 49"/>
          <p:cNvSpPr/>
          <p:nvPr/>
        </p:nvSpPr>
        <p:spPr>
          <a:xfrm>
            <a:off x="11734800" y="7569398"/>
            <a:ext cx="5295900" cy="9525"/>
          </a:xfrm>
          <a:prstGeom prst="rect">
            <a:avLst/>
          </a:prstGeom>
          <a:solidFill>
            <a:srgbClr val="1F1F1F">
              <a:alpha val="16000"/>
            </a:srgbClr>
          </a:solidFill>
          <a:ln/>
        </p:spPr>
        <p:txBody>
          <a:bodyPr/>
          <a:lstStyle/>
          <a:p>
            <a:endParaRPr lang="en-US"/>
          </a:p>
        </p:txBody>
      </p:sp>
      <p:sp>
        <p:nvSpPr>
          <p:cNvPr id="52" name="Text 50"/>
          <p:cNvSpPr/>
          <p:nvPr/>
        </p:nvSpPr>
        <p:spPr>
          <a:xfrm>
            <a:off x="11734800" y="7102673"/>
            <a:ext cx="5454777" cy="381000"/>
          </a:xfrm>
          <a:prstGeom prst="rect">
            <a:avLst/>
          </a:prstGeom>
          <a:noFill/>
          <a:ln/>
        </p:spPr>
        <p:txBody>
          <a:bodyPr wrap="square" lIns="25400" tIns="25400" rIns="25400" bIns="25400" rtlCol="0" anchor="t">
            <a:normAutofit/>
          </a:bodyPr>
          <a:lstStyle/>
          <a:p>
            <a:pPr marL="0" indent="0" algn="l">
              <a:lnSpc>
                <a:spcPct val="120000"/>
              </a:lnSpc>
              <a:buNone/>
            </a:pPr>
            <a:r>
              <a:rPr lang="en-US" sz="1875" dirty="0">
                <a:solidFill>
                  <a:srgbClr val="1D1F20"/>
                </a:solidFill>
                <a:latin typeface="Barlow" pitchFamily="34" charset="0"/>
                <a:ea typeface="Barlow" pitchFamily="34" charset="-122"/>
                <a:cs typeface="Barlow" pitchFamily="34" charset="-120"/>
              </a:rPr>
              <a:t>1 workflow — most destructive</a:t>
            </a:r>
            <a:endParaRPr lang="en-US" sz="1875" dirty="0"/>
          </a:p>
        </p:txBody>
      </p:sp>
      <p:pic>
        <p:nvPicPr>
          <p:cNvPr id="53"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PROJECT 01 · NET-NEW</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Self-service VM provisioning</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2896493"/>
            <a:ext cx="7562850" cy="28575"/>
          </a:xfrm>
          <a:prstGeom prst="rect">
            <a:avLst/>
          </a:prstGeom>
          <a:solidFill>
            <a:srgbClr val="1E1E20">
              <a:alpha val="40000"/>
            </a:srgbClr>
          </a:solidFill>
          <a:ln/>
        </p:spPr>
        <p:txBody>
          <a:bodyPr/>
          <a:lstStyle/>
          <a:p>
            <a:endParaRPr lang="en-US"/>
          </a:p>
        </p:txBody>
      </p:sp>
      <p:sp>
        <p:nvSpPr>
          <p:cNvPr id="6" name="Text 4"/>
          <p:cNvSpPr/>
          <p:nvPr/>
        </p:nvSpPr>
        <p:spPr>
          <a:xfrm>
            <a:off x="125730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1">
                    <a:alpha val="55000"/>
                  </a:srgbClr>
                </a:solidFill>
                <a:latin typeface="Barlow Condensed" pitchFamily="34" charset="0"/>
                <a:ea typeface="Barlow Condensed" pitchFamily="34" charset="-122"/>
                <a:cs typeface="Barlow Condensed" pitchFamily="34" charset="-120"/>
              </a:rPr>
              <a:t>What was — a ticket and a runbook</a:t>
            </a:r>
            <a:endParaRPr lang="en-US" sz="2850" dirty="0"/>
          </a:p>
        </p:txBody>
      </p:sp>
      <p:sp>
        <p:nvSpPr>
          <p:cNvPr id="7" name="Text 5"/>
          <p:cNvSpPr/>
          <p:nvPr/>
        </p:nvSpPr>
        <p:spPr>
          <a:xfrm>
            <a:off x="1083945" y="3820418"/>
            <a:ext cx="7812405" cy="219075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A user raised a request; an engineer built the VM by hand. Delivery was gated by engineer availability</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Configuration drift between machines built by different people at different times, and rework after handover</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No audit trail beyond the ticket</a:t>
            </a:r>
            <a:endParaRPr lang="en-US" sz="1950" dirty="0"/>
          </a:p>
        </p:txBody>
      </p:sp>
      <p:sp>
        <p:nvSpPr>
          <p:cNvPr id="8" name="Shape 6"/>
          <p:cNvSpPr/>
          <p:nvPr/>
        </p:nvSpPr>
        <p:spPr>
          <a:xfrm>
            <a:off x="9467850" y="2896493"/>
            <a:ext cx="7562850" cy="28575"/>
          </a:xfrm>
          <a:prstGeom prst="rect">
            <a:avLst/>
          </a:prstGeom>
          <a:solidFill>
            <a:srgbClr val="5980A6"/>
          </a:solidFill>
          <a:ln/>
        </p:spPr>
        <p:txBody>
          <a:bodyPr/>
          <a:lstStyle/>
          <a:p>
            <a:endParaRPr lang="en-US"/>
          </a:p>
        </p:txBody>
      </p:sp>
      <p:sp>
        <p:nvSpPr>
          <p:cNvPr id="9" name="Text 7"/>
          <p:cNvSpPr/>
          <p:nvPr/>
        </p:nvSpPr>
        <p:spPr>
          <a:xfrm>
            <a:off x="946785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0"/>
                </a:solidFill>
                <a:latin typeface="Barlow Condensed" pitchFamily="34" charset="0"/>
                <a:ea typeface="Barlow Condensed" pitchFamily="34" charset="-122"/>
                <a:cs typeface="Barlow Condensed" pitchFamily="34" charset="-120"/>
              </a:rPr>
              <a:t>What is — four catalog items on VCF 9.1</a:t>
            </a:r>
            <a:endParaRPr lang="en-US" sz="2850" dirty="0"/>
          </a:p>
        </p:txBody>
      </p:sp>
      <p:sp>
        <p:nvSpPr>
          <p:cNvPr id="10" name="Text 8"/>
          <p:cNvSpPr/>
          <p:nvPr/>
        </p:nvSpPr>
        <p:spPr>
          <a:xfrm>
            <a:off x="9294495" y="3820418"/>
            <a:ext cx="7812405" cy="45339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Windows Server 2025 and Linux shells, each with or without up to ten data disks — size, controller, drive letter and label per disk</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The form populates itself from the live environment: vCenter, cluster, network, folder, OS version, ISO media and the OU list</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Windows end to end: guest readiness, CD-ROM drive letter updated, default admin account renamed and password updated, new local admin account created, support for adding disks with each data disk initialized and mounted within the guest, matched by disk UUID</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The requester picks an OU scoped to their own project; the computer account is pre-created there and removed on destroy</a:t>
            </a:r>
            <a:endParaRPr lang="en-US" sz="1950" dirty="0"/>
          </a:p>
        </p:txBody>
      </p:sp>
      <p:sp>
        <p:nvSpPr>
          <p:cNvPr id="11" name="Text 9"/>
          <p:cNvSpPr/>
          <p:nvPr/>
        </p:nvSpPr>
        <p:spPr>
          <a:xfrm>
            <a:off x="1257300" y="8601968"/>
            <a:ext cx="16246602" cy="838200"/>
          </a:xfrm>
          <a:prstGeom prst="rect">
            <a:avLst/>
          </a:prstGeom>
          <a:noFill/>
          <a:ln/>
        </p:spPr>
        <p:txBody>
          <a:bodyPr wrap="square" lIns="25400" tIns="25400" rIns="25400" bIns="25400" rtlCol="0" anchor="t">
            <a:normAutofit/>
          </a:bodyPr>
          <a:lstStyle/>
          <a:p>
            <a:pPr marL="0" indent="0" algn="l">
              <a:lnSpc>
                <a:spcPct val="131250"/>
              </a:lnSpc>
              <a:buNone/>
            </a:pPr>
            <a:r>
              <a:rPr lang="en-US" sz="2025" dirty="0">
                <a:solidFill>
                  <a:srgbClr val="1D1F20"/>
                </a:solidFill>
                <a:latin typeface="Barlow" pitchFamily="34" charset="0"/>
                <a:ea typeface="Barlow" pitchFamily="34" charset="-122"/>
                <a:cs typeface="Barlow" pitchFamily="34" charset="-120"/>
              </a:rPr>
              <a:t>On failure the platform destroys the VM, so no half-built machines are left behind. Any computer accounts created in Active Directory are also cleaned up on failure.</a:t>
            </a:r>
            <a:endParaRPr lang="en-US" sz="2025" dirty="0"/>
          </a:p>
        </p:txBody>
      </p:sp>
      <p:pic>
        <p:nvPicPr>
          <p:cNvPr id="12"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1257300" y="4100066"/>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B5D9FD"/>
                </a:solidFill>
                <a:latin typeface="Barlow Condensed" pitchFamily="34" charset="0"/>
                <a:ea typeface="Barlow Condensed" pitchFamily="34" charset="-122"/>
                <a:cs typeface="Barlow Condensed" pitchFamily="34" charset="-120"/>
              </a:rPr>
              <a:t>PROJECT 01</a:t>
            </a:r>
            <a:endParaRPr lang="en-US" sz="1650" dirty="0"/>
          </a:p>
        </p:txBody>
      </p:sp>
      <p:sp>
        <p:nvSpPr>
          <p:cNvPr id="3" name="Text 1"/>
          <p:cNvSpPr/>
          <p:nvPr/>
        </p:nvSpPr>
        <p:spPr>
          <a:xfrm>
            <a:off x="1257300" y="4710559"/>
            <a:ext cx="16344900" cy="1066800"/>
          </a:xfrm>
          <a:prstGeom prst="rect">
            <a:avLst/>
          </a:prstGeom>
          <a:noFill/>
          <a:ln/>
        </p:spPr>
        <p:txBody>
          <a:bodyPr wrap="square" lIns="25400" tIns="25400" rIns="25400" bIns="25400" rtlCol="0" anchor="t">
            <a:normAutofit lnSpcReduction="10000"/>
          </a:bodyPr>
          <a:lstStyle/>
          <a:p>
            <a:pPr marL="0" indent="0" algn="l">
              <a:lnSpc>
                <a:spcPct val="93913"/>
              </a:lnSpc>
              <a:buNone/>
            </a:pPr>
            <a:r>
              <a:rPr lang="en-US" sz="7200" b="1" kern="0" spc="-108" dirty="0">
                <a:solidFill>
                  <a:srgbClr val="F2F2F3"/>
                </a:solidFill>
                <a:latin typeface="Barlow Condensed" pitchFamily="34" charset="0"/>
                <a:ea typeface="Barlow Condensed" pitchFamily="34" charset="-122"/>
                <a:cs typeface="Barlow Condensed" pitchFamily="34" charset="-120"/>
              </a:rPr>
              <a:t>Demo — Self-Service VM Provisioning</a:t>
            </a:r>
            <a:endParaRPr lang="en-US" sz="7200" dirty="0"/>
          </a:p>
        </p:txBody>
      </p:sp>
      <p:sp>
        <p:nvSpPr>
          <p:cNvPr id="4" name="Shape 2"/>
          <p:cNvSpPr/>
          <p:nvPr/>
        </p:nvSpPr>
        <p:spPr>
          <a:xfrm>
            <a:off x="1257300" y="6177409"/>
            <a:ext cx="14859000" cy="9525"/>
          </a:xfrm>
          <a:prstGeom prst="rect">
            <a:avLst/>
          </a:prstGeom>
          <a:solidFill>
            <a:srgbClr val="F2F2F2">
              <a:alpha val="3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PROJECT 02 · READ-ONLY</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Server Reboot Report</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2896493"/>
            <a:ext cx="7562850" cy="28575"/>
          </a:xfrm>
          <a:prstGeom prst="rect">
            <a:avLst/>
          </a:prstGeom>
          <a:solidFill>
            <a:srgbClr val="1E1E20">
              <a:alpha val="40000"/>
            </a:srgbClr>
          </a:solidFill>
          <a:ln/>
        </p:spPr>
        <p:txBody>
          <a:bodyPr/>
          <a:lstStyle/>
          <a:p>
            <a:endParaRPr lang="en-US"/>
          </a:p>
        </p:txBody>
      </p:sp>
      <p:sp>
        <p:nvSpPr>
          <p:cNvPr id="6" name="Text 4"/>
          <p:cNvSpPr/>
          <p:nvPr/>
        </p:nvSpPr>
        <p:spPr>
          <a:xfrm>
            <a:off x="125730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1">
                    <a:alpha val="55000"/>
                  </a:srgbClr>
                </a:solidFill>
                <a:latin typeface="Barlow Condensed" pitchFamily="34" charset="0"/>
                <a:ea typeface="Barlow Condensed" pitchFamily="34" charset="-122"/>
                <a:cs typeface="Barlow Condensed" pitchFamily="34" charset="-120"/>
              </a:rPr>
              <a:t>What was — two playbooks</a:t>
            </a:r>
            <a:endParaRPr lang="en-US" sz="2850" dirty="0"/>
          </a:p>
        </p:txBody>
      </p:sp>
      <p:sp>
        <p:nvSpPr>
          <p:cNvPr id="7" name="Text 5"/>
          <p:cNvSpPr/>
          <p:nvPr/>
        </p:nvSpPr>
        <p:spPr>
          <a:xfrm>
            <a:off x="1083945" y="3820418"/>
            <a:ext cx="7812405" cy="272415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Production used a non-recursive, unfiltered lookup, so servers in nested groups were silently missing</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Users and disabled computer objects appeared as noise rows</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An empty CC list failed every emailed report in the toolbox, not just this one</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The result file grew on every run — an unbounded drive-fill risk</a:t>
            </a:r>
            <a:endParaRPr lang="en-US" sz="1950" dirty="0"/>
          </a:p>
        </p:txBody>
      </p:sp>
      <p:sp>
        <p:nvSpPr>
          <p:cNvPr id="8" name="Shape 6"/>
          <p:cNvSpPr/>
          <p:nvPr/>
        </p:nvSpPr>
        <p:spPr>
          <a:xfrm>
            <a:off x="9467850" y="2896493"/>
            <a:ext cx="7562850" cy="28575"/>
          </a:xfrm>
          <a:prstGeom prst="rect">
            <a:avLst/>
          </a:prstGeom>
          <a:solidFill>
            <a:srgbClr val="5980A6"/>
          </a:solidFill>
          <a:ln/>
        </p:spPr>
        <p:txBody>
          <a:bodyPr/>
          <a:lstStyle/>
          <a:p>
            <a:endParaRPr lang="en-US"/>
          </a:p>
        </p:txBody>
      </p:sp>
      <p:sp>
        <p:nvSpPr>
          <p:cNvPr id="9" name="Text 7"/>
          <p:cNvSpPr/>
          <p:nvPr/>
        </p:nvSpPr>
        <p:spPr>
          <a:xfrm>
            <a:off x="946785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0"/>
                </a:solidFill>
                <a:latin typeface="Barlow Condensed" pitchFamily="34" charset="0"/>
                <a:ea typeface="Barlow Condensed" pitchFamily="34" charset="-122"/>
                <a:cs typeface="Barlow Condensed" pitchFamily="34" charset="-120"/>
              </a:rPr>
              <a:t>What is — one workflow</a:t>
            </a:r>
            <a:endParaRPr lang="en-US" sz="2850" dirty="0"/>
          </a:p>
        </p:txBody>
      </p:sp>
      <p:sp>
        <p:nvSpPr>
          <p:cNvPr id="10" name="Text 8"/>
          <p:cNvSpPr/>
          <p:nvPr/>
        </p:nvSpPr>
        <p:spPr>
          <a:xfrm>
            <a:off x="9294495" y="3820418"/>
            <a:ext cx="7812405" cy="30861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One hardened resolver: recursive, enabled computers only. Recursion is right here because the report is read-only — expanding a nested group only completes the picture</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CC genuinely optional, fixing emailed reports across the whole toolbox</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Files overwritten, then deleted after a confirmed send</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Every log line stamped with workflow name and run ID</a:t>
            </a:r>
            <a:endParaRPr lang="en-US" sz="1950" dirty="0"/>
          </a:p>
        </p:txBody>
      </p:sp>
      <p:pic>
        <p:nvPicPr>
          <p:cNvPr id="11"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1257300" y="4100066"/>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B5D9FD"/>
                </a:solidFill>
                <a:latin typeface="Barlow Condensed" pitchFamily="34" charset="0"/>
                <a:ea typeface="Barlow Condensed" pitchFamily="34" charset="-122"/>
                <a:cs typeface="Barlow Condensed" pitchFamily="34" charset="-120"/>
              </a:rPr>
              <a:t>PROJECT 02</a:t>
            </a:r>
            <a:endParaRPr lang="en-US" sz="1650" dirty="0"/>
          </a:p>
        </p:txBody>
      </p:sp>
      <p:sp>
        <p:nvSpPr>
          <p:cNvPr id="3" name="Text 1"/>
          <p:cNvSpPr/>
          <p:nvPr/>
        </p:nvSpPr>
        <p:spPr>
          <a:xfrm>
            <a:off x="1257300" y="4710559"/>
            <a:ext cx="16344900" cy="1066800"/>
          </a:xfrm>
          <a:prstGeom prst="rect">
            <a:avLst/>
          </a:prstGeom>
          <a:noFill/>
          <a:ln/>
        </p:spPr>
        <p:txBody>
          <a:bodyPr wrap="square" lIns="25400" tIns="25400" rIns="25400" bIns="25400" rtlCol="0" anchor="t">
            <a:normAutofit lnSpcReduction="10000"/>
          </a:bodyPr>
          <a:lstStyle/>
          <a:p>
            <a:pPr marL="0" indent="0" algn="l">
              <a:lnSpc>
                <a:spcPct val="93913"/>
              </a:lnSpc>
              <a:buNone/>
            </a:pPr>
            <a:r>
              <a:rPr lang="en-US" sz="7200" b="1" kern="0" spc="-108" dirty="0">
                <a:solidFill>
                  <a:srgbClr val="F2F2F3"/>
                </a:solidFill>
                <a:latin typeface="Barlow Condensed" pitchFamily="34" charset="0"/>
                <a:ea typeface="Barlow Condensed" pitchFamily="34" charset="-122"/>
                <a:cs typeface="Barlow Condensed" pitchFamily="34" charset="-120"/>
              </a:rPr>
              <a:t>Demo — Server Reboot Report</a:t>
            </a:r>
            <a:endParaRPr lang="en-US" sz="7200" dirty="0"/>
          </a:p>
        </p:txBody>
      </p:sp>
      <p:sp>
        <p:nvSpPr>
          <p:cNvPr id="4" name="Shape 2"/>
          <p:cNvSpPr/>
          <p:nvPr/>
        </p:nvSpPr>
        <p:spPr>
          <a:xfrm>
            <a:off x="1257300" y="6177409"/>
            <a:ext cx="14859000" cy="9525"/>
          </a:xfrm>
          <a:prstGeom prst="rect">
            <a:avLst/>
          </a:prstGeom>
          <a:solidFill>
            <a:srgbClr val="F2F2F2">
              <a:alpha val="3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PROJECT 03 · READ-ONLY</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Admin Accounts (PKI) Report</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2896493"/>
            <a:ext cx="7562850" cy="28575"/>
          </a:xfrm>
          <a:prstGeom prst="rect">
            <a:avLst/>
          </a:prstGeom>
          <a:solidFill>
            <a:srgbClr val="1E1E20">
              <a:alpha val="40000"/>
            </a:srgbClr>
          </a:solidFill>
          <a:ln/>
        </p:spPr>
        <p:txBody>
          <a:bodyPr/>
          <a:lstStyle/>
          <a:p>
            <a:endParaRPr lang="en-US"/>
          </a:p>
        </p:txBody>
      </p:sp>
      <p:sp>
        <p:nvSpPr>
          <p:cNvPr id="6" name="Text 4"/>
          <p:cNvSpPr/>
          <p:nvPr/>
        </p:nvSpPr>
        <p:spPr>
          <a:xfrm>
            <a:off x="125730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1">
                    <a:alpha val="55000"/>
                  </a:srgbClr>
                </a:solidFill>
                <a:latin typeface="Barlow Condensed" pitchFamily="34" charset="0"/>
                <a:ea typeface="Barlow Condensed" pitchFamily="34" charset="-122"/>
                <a:cs typeface="Barlow Condensed" pitchFamily="34" charset="-120"/>
              </a:rPr>
              <a:t>What was — three templates</a:t>
            </a:r>
            <a:endParaRPr lang="en-US" sz="2850" dirty="0"/>
          </a:p>
        </p:txBody>
      </p:sp>
      <p:sp>
        <p:nvSpPr>
          <p:cNvPr id="7" name="Text 5"/>
          <p:cNvSpPr/>
          <p:nvPr/>
        </p:nvSpPr>
        <p:spPr>
          <a:xfrm>
            <a:off x="1083945" y="3820418"/>
            <a:ext cx="7812405" cy="344805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Two ran on a forked copy of the shared script — the only source of the multi-domain report, and it predated every hardening change</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Silent partial sweeps: a bad OU, dead DC or broken trust raised an error nobody saw</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A failed OU produces no rows, which looks exactly like a compliant OU</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Overlapping OUs inflated the counts; one flat table left the reader inferring each row's domain</a:t>
            </a:r>
            <a:endParaRPr lang="en-US" sz="1950" dirty="0"/>
          </a:p>
        </p:txBody>
      </p:sp>
      <p:sp>
        <p:nvSpPr>
          <p:cNvPr id="8" name="Shape 6"/>
          <p:cNvSpPr/>
          <p:nvPr/>
        </p:nvSpPr>
        <p:spPr>
          <a:xfrm>
            <a:off x="9467850" y="2896493"/>
            <a:ext cx="7562850" cy="28575"/>
          </a:xfrm>
          <a:prstGeom prst="rect">
            <a:avLst/>
          </a:prstGeom>
          <a:solidFill>
            <a:srgbClr val="5980A6"/>
          </a:solidFill>
          <a:ln/>
        </p:spPr>
        <p:txBody>
          <a:bodyPr/>
          <a:lstStyle/>
          <a:p>
            <a:endParaRPr lang="en-US"/>
          </a:p>
        </p:txBody>
      </p:sp>
      <p:sp>
        <p:nvSpPr>
          <p:cNvPr id="9" name="Text 7"/>
          <p:cNvSpPr/>
          <p:nvPr/>
        </p:nvSpPr>
        <p:spPr>
          <a:xfrm>
            <a:off x="946785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0"/>
                </a:solidFill>
                <a:latin typeface="Barlow Condensed" pitchFamily="34" charset="0"/>
                <a:ea typeface="Barlow Condensed" pitchFamily="34" charset="-122"/>
                <a:cs typeface="Barlow Condensed" pitchFamily="34" charset="-120"/>
              </a:rPr>
              <a:t>What is — one workflow, the fork retired</a:t>
            </a:r>
            <a:endParaRPr lang="en-US" sz="2850" dirty="0"/>
          </a:p>
        </p:txBody>
      </p:sp>
      <p:sp>
        <p:nvSpPr>
          <p:cNvPr id="10" name="Text 8"/>
          <p:cNvSpPr/>
          <p:nvPr/>
        </p:nvSpPr>
        <p:spPr>
          <a:xfrm>
            <a:off x="9294495" y="3820418"/>
            <a:ext cx="7812405" cy="30861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Failures rendered on the report: a banner, per-OU NOT READ flags, an INCOMPLETE subject prefix</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Failures classified — scope, access, authentication or reachability — with remediation guidance</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Executive summary, then per-domain status, then per-OU detail, driven by requested scope rather than returned data</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Overlapping OUs de-duplicated before the counts are taken</a:t>
            </a:r>
            <a:endParaRPr lang="en-US" sz="1950" dirty="0"/>
          </a:p>
        </p:txBody>
      </p:sp>
      <p:sp>
        <p:nvSpPr>
          <p:cNvPr id="11" name="Text 9"/>
          <p:cNvSpPr/>
          <p:nvPr/>
        </p:nvSpPr>
        <p:spPr>
          <a:xfrm>
            <a:off x="1257300" y="7516118"/>
            <a:ext cx="17350740" cy="438150"/>
          </a:xfrm>
          <a:prstGeom prst="rect">
            <a:avLst/>
          </a:prstGeom>
          <a:noFill/>
          <a:ln/>
        </p:spPr>
        <p:txBody>
          <a:bodyPr wrap="square" lIns="25400" tIns="25400" rIns="25400" bIns="25400" rtlCol="0" anchor="t">
            <a:normAutofit/>
          </a:bodyPr>
          <a:lstStyle/>
          <a:p>
            <a:pPr marL="0" indent="0" algn="l">
              <a:lnSpc>
                <a:spcPct val="131250"/>
              </a:lnSpc>
              <a:buNone/>
            </a:pPr>
            <a:r>
              <a:rPr lang="en-US" sz="2025" dirty="0">
                <a:solidFill>
                  <a:srgbClr val="1D1F20"/>
                </a:solidFill>
                <a:latin typeface="Barlow" pitchFamily="34" charset="0"/>
                <a:ea typeface="Barlow" pitchFamily="34" charset="-122"/>
                <a:cs typeface="Barlow" pitchFamily="34" charset="-120"/>
              </a:rPr>
              <a:t>A scope problem fails the run outright. A per-OU problem completes with errors and still delivers a report naming what is missing.</a:t>
            </a:r>
            <a:endParaRPr lang="en-US" sz="2025" dirty="0"/>
          </a:p>
        </p:txBody>
      </p:sp>
      <p:pic>
        <p:nvPicPr>
          <p:cNvPr id="12"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1257300" y="4100066"/>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B5D9FD"/>
                </a:solidFill>
                <a:latin typeface="Barlow Condensed" pitchFamily="34" charset="0"/>
                <a:ea typeface="Barlow Condensed" pitchFamily="34" charset="-122"/>
                <a:cs typeface="Barlow Condensed" pitchFamily="34" charset="-120"/>
              </a:rPr>
              <a:t>PROJECT 03</a:t>
            </a:r>
            <a:endParaRPr lang="en-US" sz="1650" dirty="0"/>
          </a:p>
        </p:txBody>
      </p:sp>
      <p:sp>
        <p:nvSpPr>
          <p:cNvPr id="3" name="Text 1"/>
          <p:cNvSpPr/>
          <p:nvPr/>
        </p:nvSpPr>
        <p:spPr>
          <a:xfrm>
            <a:off x="1257300" y="4710559"/>
            <a:ext cx="16344900" cy="1066800"/>
          </a:xfrm>
          <a:prstGeom prst="rect">
            <a:avLst/>
          </a:prstGeom>
          <a:noFill/>
          <a:ln/>
        </p:spPr>
        <p:txBody>
          <a:bodyPr wrap="square" lIns="25400" tIns="25400" rIns="25400" bIns="25400" rtlCol="0" anchor="t">
            <a:normAutofit lnSpcReduction="10000"/>
          </a:bodyPr>
          <a:lstStyle/>
          <a:p>
            <a:pPr marL="0" indent="0" algn="l">
              <a:lnSpc>
                <a:spcPct val="93913"/>
              </a:lnSpc>
              <a:buNone/>
            </a:pPr>
            <a:r>
              <a:rPr lang="en-US" sz="7200" b="1" kern="0" spc="-108" dirty="0">
                <a:solidFill>
                  <a:srgbClr val="F2F2F3"/>
                </a:solidFill>
                <a:latin typeface="Barlow Condensed" pitchFamily="34" charset="0"/>
                <a:ea typeface="Barlow Condensed" pitchFamily="34" charset="-122"/>
                <a:cs typeface="Barlow Condensed" pitchFamily="34" charset="-120"/>
              </a:rPr>
              <a:t>Demo — Admin Accounts Report</a:t>
            </a:r>
            <a:endParaRPr lang="en-US" sz="7200" dirty="0"/>
          </a:p>
        </p:txBody>
      </p:sp>
      <p:sp>
        <p:nvSpPr>
          <p:cNvPr id="4" name="Shape 2"/>
          <p:cNvSpPr/>
          <p:nvPr/>
        </p:nvSpPr>
        <p:spPr>
          <a:xfrm>
            <a:off x="1257300" y="6177409"/>
            <a:ext cx="14859000" cy="9525"/>
          </a:xfrm>
          <a:prstGeom prst="rect">
            <a:avLst/>
          </a:prstGeom>
          <a:solidFill>
            <a:srgbClr val="F2F2F2">
              <a:alpha val="3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PROJECT 04 · READ-ONLY</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Service Account Expiration Report</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2896493"/>
            <a:ext cx="7562850" cy="28575"/>
          </a:xfrm>
          <a:prstGeom prst="rect">
            <a:avLst/>
          </a:prstGeom>
          <a:solidFill>
            <a:srgbClr val="1E1E20">
              <a:alpha val="40000"/>
            </a:srgbClr>
          </a:solidFill>
          <a:ln/>
        </p:spPr>
        <p:txBody>
          <a:bodyPr/>
          <a:lstStyle/>
          <a:p>
            <a:endParaRPr lang="en-US"/>
          </a:p>
        </p:txBody>
      </p:sp>
      <p:sp>
        <p:nvSpPr>
          <p:cNvPr id="6" name="Text 4"/>
          <p:cNvSpPr/>
          <p:nvPr/>
        </p:nvSpPr>
        <p:spPr>
          <a:xfrm>
            <a:off x="125730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1">
                    <a:alpha val="55000"/>
                  </a:srgbClr>
                </a:solidFill>
                <a:latin typeface="Barlow Condensed" pitchFamily="34" charset="0"/>
                <a:ea typeface="Barlow Condensed" pitchFamily="34" charset="-122"/>
                <a:cs typeface="Barlow Condensed" pitchFamily="34" charset="-120"/>
              </a:rPr>
              <a:t>What was — four silent defects</a:t>
            </a:r>
            <a:endParaRPr lang="en-US" sz="2850" dirty="0"/>
          </a:p>
        </p:txBody>
      </p:sp>
      <p:sp>
        <p:nvSpPr>
          <p:cNvPr id="7" name="Text 5"/>
          <p:cNvSpPr/>
          <p:nvPr/>
        </p:nvSpPr>
        <p:spPr>
          <a:xfrm>
            <a:off x="1083945" y="3820418"/>
            <a:ext cx="7812405" cy="30861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An omitted parameter bound to a filter: every smart-card enabled service account has been missing from every report ever produced</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The expiration date was queried, then omitted from the columns — a report titled Service Account Expiration showing no expiry date</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A password never set reported as an age of zero, sorting the worst accounts to the bottom</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An unassigned variable put a blank row on every report</a:t>
            </a:r>
            <a:endParaRPr lang="en-US" sz="1950" dirty="0"/>
          </a:p>
        </p:txBody>
      </p:sp>
      <p:sp>
        <p:nvSpPr>
          <p:cNvPr id="8" name="Shape 6"/>
          <p:cNvSpPr/>
          <p:nvPr/>
        </p:nvSpPr>
        <p:spPr>
          <a:xfrm>
            <a:off x="9467850" y="2896493"/>
            <a:ext cx="7562850" cy="28575"/>
          </a:xfrm>
          <a:prstGeom prst="rect">
            <a:avLst/>
          </a:prstGeom>
          <a:solidFill>
            <a:srgbClr val="5980A6"/>
          </a:solidFill>
          <a:ln/>
        </p:spPr>
        <p:txBody>
          <a:bodyPr/>
          <a:lstStyle/>
          <a:p>
            <a:endParaRPr lang="en-US"/>
          </a:p>
        </p:txBody>
      </p:sp>
      <p:sp>
        <p:nvSpPr>
          <p:cNvPr id="9" name="Text 7"/>
          <p:cNvSpPr/>
          <p:nvPr/>
        </p:nvSpPr>
        <p:spPr>
          <a:xfrm>
            <a:off x="946785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0"/>
                </a:solidFill>
                <a:latin typeface="Barlow Condensed" pitchFamily="34" charset="0"/>
                <a:ea typeface="Barlow Condensed" pitchFamily="34" charset="-122"/>
                <a:cs typeface="Barlow Condensed" pitchFamily="34" charset="-120"/>
              </a:rPr>
              <a:t>What is — one workflow</a:t>
            </a:r>
            <a:endParaRPr lang="en-US" sz="2850" dirty="0"/>
          </a:p>
        </p:txBody>
      </p:sp>
      <p:sp>
        <p:nvSpPr>
          <p:cNvPr id="10" name="Text 8"/>
          <p:cNvSpPr/>
          <p:nvPr/>
        </p:nvSpPr>
        <p:spPr>
          <a:xfrm>
            <a:off x="9294495" y="3820418"/>
            <a:ext cx="7812405" cy="344805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It reports expiration: Expires on and Days to expiry, each account classified Expired, Expiring, Active or Never expires</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Complete scope — the fix is structural, so the query path cannot be defaulted into a filter</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New: a look-ahead window driving an Action required block and the subject-line counts</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An empty report is now trustworthy — "nothing is expiring" and "the query never ran" are distinguishable</a:t>
            </a:r>
            <a:endParaRPr lang="en-US" sz="1950" dirty="0"/>
          </a:p>
        </p:txBody>
      </p:sp>
      <p:pic>
        <p:nvPicPr>
          <p:cNvPr id="11"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1257300" y="4100066"/>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B5D9FD"/>
                </a:solidFill>
                <a:latin typeface="Barlow Condensed" pitchFamily="34" charset="0"/>
                <a:ea typeface="Barlow Condensed" pitchFamily="34" charset="-122"/>
                <a:cs typeface="Barlow Condensed" pitchFamily="34" charset="-120"/>
              </a:rPr>
              <a:t>PROJECT 04</a:t>
            </a:r>
            <a:endParaRPr lang="en-US" sz="1650" dirty="0"/>
          </a:p>
        </p:txBody>
      </p:sp>
      <p:sp>
        <p:nvSpPr>
          <p:cNvPr id="3" name="Text 1"/>
          <p:cNvSpPr/>
          <p:nvPr/>
        </p:nvSpPr>
        <p:spPr>
          <a:xfrm>
            <a:off x="1257300" y="4710559"/>
            <a:ext cx="16344900" cy="1066800"/>
          </a:xfrm>
          <a:prstGeom prst="rect">
            <a:avLst/>
          </a:prstGeom>
          <a:noFill/>
          <a:ln/>
        </p:spPr>
        <p:txBody>
          <a:bodyPr wrap="square" lIns="25400" tIns="25400" rIns="25400" bIns="25400" rtlCol="0" anchor="t">
            <a:normAutofit lnSpcReduction="10000"/>
          </a:bodyPr>
          <a:lstStyle/>
          <a:p>
            <a:pPr marL="0" indent="0" algn="l">
              <a:lnSpc>
                <a:spcPct val="93913"/>
              </a:lnSpc>
              <a:buNone/>
            </a:pPr>
            <a:r>
              <a:rPr lang="en-US" sz="7200" b="1" kern="0" spc="-108" dirty="0">
                <a:solidFill>
                  <a:srgbClr val="F2F2F3"/>
                </a:solidFill>
                <a:latin typeface="Barlow Condensed" pitchFamily="34" charset="0"/>
                <a:ea typeface="Barlow Condensed" pitchFamily="34" charset="-122"/>
                <a:cs typeface="Barlow Condensed" pitchFamily="34" charset="-120"/>
              </a:rPr>
              <a:t>Demo — Service Account Expiration</a:t>
            </a:r>
            <a:endParaRPr lang="en-US" sz="7200" dirty="0"/>
          </a:p>
        </p:txBody>
      </p:sp>
      <p:sp>
        <p:nvSpPr>
          <p:cNvPr id="4" name="Shape 2"/>
          <p:cNvSpPr/>
          <p:nvPr/>
        </p:nvSpPr>
        <p:spPr>
          <a:xfrm>
            <a:off x="1257300" y="6177409"/>
            <a:ext cx="14859000" cy="9525"/>
          </a:xfrm>
          <a:prstGeom prst="rect">
            <a:avLst/>
          </a:prstGeom>
          <a:solidFill>
            <a:srgbClr val="F2F2F2">
              <a:alpha val="3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PROJECT 05</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Move Windows Event Logs</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2896493"/>
            <a:ext cx="7562850" cy="28575"/>
          </a:xfrm>
          <a:prstGeom prst="rect">
            <a:avLst/>
          </a:prstGeom>
          <a:solidFill>
            <a:srgbClr val="1E1E20">
              <a:alpha val="40000"/>
            </a:srgbClr>
          </a:solidFill>
          <a:ln/>
        </p:spPr>
        <p:txBody>
          <a:bodyPr/>
          <a:lstStyle/>
          <a:p>
            <a:endParaRPr lang="en-US"/>
          </a:p>
        </p:txBody>
      </p:sp>
      <p:sp>
        <p:nvSpPr>
          <p:cNvPr id="6" name="Text 4"/>
          <p:cNvSpPr/>
          <p:nvPr/>
        </p:nvSpPr>
        <p:spPr>
          <a:xfrm>
            <a:off x="125730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1">
                    <a:alpha val="55000"/>
                  </a:srgbClr>
                </a:solidFill>
                <a:latin typeface="Barlow Condensed" pitchFamily="34" charset="0"/>
                <a:ea typeface="Barlow Condensed" pitchFamily="34" charset="-122"/>
                <a:cs typeface="Barlow Condensed" pitchFamily="34" charset="-120"/>
              </a:rPr>
              <a:t>What was — seven playbooks</a:t>
            </a:r>
            <a:endParaRPr lang="en-US" sz="2850" dirty="0"/>
          </a:p>
        </p:txBody>
      </p:sp>
      <p:sp>
        <p:nvSpPr>
          <p:cNvPr id="7" name="Text 5"/>
          <p:cNvSpPr/>
          <p:nvPr/>
        </p:nvSpPr>
        <p:spPr>
          <a:xfrm>
            <a:off x="1083945" y="3820418"/>
            <a:ext cx="7812405" cy="30861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The safe preview mode did not work: it asked for keyboard confirmation in a context where nothing is at a keyboard</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Three near-duplicate targeting variants, plus a local-host special case</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An unreachable source server failed invisibly</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Disabled members were handed into the move loop and errored one at a time; the file filter and age were hardcoded</a:t>
            </a:r>
            <a:endParaRPr lang="en-US" sz="1950" dirty="0"/>
          </a:p>
        </p:txBody>
      </p:sp>
      <p:sp>
        <p:nvSpPr>
          <p:cNvPr id="8" name="Shape 6"/>
          <p:cNvSpPr/>
          <p:nvPr/>
        </p:nvSpPr>
        <p:spPr>
          <a:xfrm>
            <a:off x="9467850" y="2896493"/>
            <a:ext cx="7562850" cy="28575"/>
          </a:xfrm>
          <a:prstGeom prst="rect">
            <a:avLst/>
          </a:prstGeom>
          <a:solidFill>
            <a:srgbClr val="5980A6"/>
          </a:solidFill>
          <a:ln/>
        </p:spPr>
        <p:txBody>
          <a:bodyPr/>
          <a:lstStyle/>
          <a:p>
            <a:endParaRPr lang="en-US"/>
          </a:p>
        </p:txBody>
      </p:sp>
      <p:sp>
        <p:nvSpPr>
          <p:cNvPr id="9" name="Text 7"/>
          <p:cNvSpPr/>
          <p:nvPr/>
        </p:nvSpPr>
        <p:spPr>
          <a:xfrm>
            <a:off x="946785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0"/>
                </a:solidFill>
                <a:latin typeface="Barlow Condensed" pitchFamily="34" charset="0"/>
                <a:ea typeface="Barlow Condensed" pitchFamily="34" charset="-122"/>
                <a:cs typeface="Barlow Condensed" pitchFamily="34" charset="-120"/>
              </a:rPr>
              <a:t>What is — two workflows</a:t>
            </a:r>
            <a:endParaRPr lang="en-US" sz="2850" dirty="0"/>
          </a:p>
        </p:txBody>
      </p:sp>
      <p:sp>
        <p:nvSpPr>
          <p:cNvPr id="10" name="Text 8"/>
          <p:cNvSpPr/>
          <p:nvPr/>
        </p:nvSpPr>
        <p:spPr>
          <a:xfrm>
            <a:off x="9294495" y="3820418"/>
            <a:ext cx="7812405" cy="30861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Move archived logs to a central share, and keep that share clean on a retention threshold</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Report-only actually works, and it is the default</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One targeting method: three variants and the local-host case collapse into a single recursive, enabled-only resolver</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Unreachable sources are visible and disabled members logged; one failure is skipped and the remaining moves continue</a:t>
            </a:r>
            <a:endParaRPr lang="en-US" sz="1950" dirty="0"/>
          </a:p>
        </p:txBody>
      </p:sp>
      <p:pic>
        <p:nvPicPr>
          <p:cNvPr id="11"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1257300" y="4100066"/>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B5D9FD"/>
                </a:solidFill>
                <a:latin typeface="Barlow Condensed" pitchFamily="34" charset="0"/>
                <a:ea typeface="Barlow Condensed" pitchFamily="34" charset="-122"/>
                <a:cs typeface="Barlow Condensed" pitchFamily="34" charset="-120"/>
              </a:rPr>
              <a:t>PROJECT 05</a:t>
            </a:r>
            <a:endParaRPr lang="en-US" sz="1650" dirty="0"/>
          </a:p>
        </p:txBody>
      </p:sp>
      <p:sp>
        <p:nvSpPr>
          <p:cNvPr id="3" name="Text 1"/>
          <p:cNvSpPr/>
          <p:nvPr/>
        </p:nvSpPr>
        <p:spPr>
          <a:xfrm>
            <a:off x="1257300" y="4710559"/>
            <a:ext cx="16344900" cy="1066800"/>
          </a:xfrm>
          <a:prstGeom prst="rect">
            <a:avLst/>
          </a:prstGeom>
          <a:noFill/>
          <a:ln/>
        </p:spPr>
        <p:txBody>
          <a:bodyPr wrap="square" lIns="25400" tIns="25400" rIns="25400" bIns="25400" rtlCol="0" anchor="t">
            <a:normAutofit lnSpcReduction="10000"/>
          </a:bodyPr>
          <a:lstStyle/>
          <a:p>
            <a:pPr marL="0" indent="0" algn="l">
              <a:lnSpc>
                <a:spcPct val="93913"/>
              </a:lnSpc>
              <a:buNone/>
            </a:pPr>
            <a:r>
              <a:rPr lang="en-US" sz="7200" b="1" kern="0" spc="-108" dirty="0">
                <a:solidFill>
                  <a:srgbClr val="F2F2F3"/>
                </a:solidFill>
                <a:latin typeface="Barlow Condensed" pitchFamily="34" charset="0"/>
                <a:ea typeface="Barlow Condensed" pitchFamily="34" charset="-122"/>
                <a:cs typeface="Barlow Condensed" pitchFamily="34" charset="-120"/>
              </a:rPr>
              <a:t>Demo — Move Windows Event Logs</a:t>
            </a:r>
            <a:endParaRPr lang="en-US" sz="7200" dirty="0"/>
          </a:p>
        </p:txBody>
      </p:sp>
      <p:sp>
        <p:nvSpPr>
          <p:cNvPr id="4" name="Shape 2"/>
          <p:cNvSpPr/>
          <p:nvPr/>
        </p:nvSpPr>
        <p:spPr>
          <a:xfrm>
            <a:off x="1257300" y="6177409"/>
            <a:ext cx="14859000" cy="9525"/>
          </a:xfrm>
          <a:prstGeom prst="rect">
            <a:avLst/>
          </a:prstGeom>
          <a:solidFill>
            <a:srgbClr val="F2F2F2">
              <a:alpha val="3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PROJECT 06 · FIRST DESTRUCTIVE WORKFLOW</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Windows Server Clean Disks</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2896493"/>
            <a:ext cx="7562850" cy="28575"/>
          </a:xfrm>
          <a:prstGeom prst="rect">
            <a:avLst/>
          </a:prstGeom>
          <a:solidFill>
            <a:srgbClr val="1E1E20">
              <a:alpha val="40000"/>
            </a:srgbClr>
          </a:solidFill>
          <a:ln/>
        </p:spPr>
        <p:txBody>
          <a:bodyPr/>
          <a:lstStyle/>
          <a:p>
            <a:endParaRPr lang="en-US"/>
          </a:p>
        </p:txBody>
      </p:sp>
      <p:sp>
        <p:nvSpPr>
          <p:cNvPr id="6" name="Text 4"/>
          <p:cNvSpPr/>
          <p:nvPr/>
        </p:nvSpPr>
        <p:spPr>
          <a:xfrm>
            <a:off x="125730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1">
                    <a:alpha val="55000"/>
                  </a:srgbClr>
                </a:solidFill>
                <a:latin typeface="Barlow Condensed" pitchFamily="34" charset="0"/>
                <a:ea typeface="Barlow Condensed" pitchFamily="34" charset="-122"/>
                <a:cs typeface="Barlow Condensed" pitchFamily="34" charset="-120"/>
              </a:rPr>
              <a:t>What was — eight job templates</a:t>
            </a:r>
            <a:endParaRPr lang="en-US" sz="2850" dirty="0"/>
          </a:p>
        </p:txBody>
      </p:sp>
      <p:sp>
        <p:nvSpPr>
          <p:cNvPr id="7" name="Text 5"/>
          <p:cNvSpPr/>
          <p:nvPr/>
        </p:nvSpPr>
        <p:spPr>
          <a:xfrm>
            <a:off x="1083945" y="3820418"/>
            <a:ext cx="7812405" cy="30861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Six clearing the SCCM cache, two clearing user profiles: the same action, different inputs</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No dry run. The action always deleted</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Silent failures — an unreachable server raised an error nobody saw, and the run looked clean</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Unfiltered targeting returned users and disabled objects, which errored one by one; four near-identical copies of the delete logic</a:t>
            </a:r>
            <a:endParaRPr lang="en-US" sz="1950" dirty="0"/>
          </a:p>
        </p:txBody>
      </p:sp>
      <p:sp>
        <p:nvSpPr>
          <p:cNvPr id="8" name="Shape 6"/>
          <p:cNvSpPr/>
          <p:nvPr/>
        </p:nvSpPr>
        <p:spPr>
          <a:xfrm>
            <a:off x="9467850" y="2896493"/>
            <a:ext cx="7562850" cy="28575"/>
          </a:xfrm>
          <a:prstGeom prst="rect">
            <a:avLst/>
          </a:prstGeom>
          <a:solidFill>
            <a:srgbClr val="5980A6"/>
          </a:solidFill>
          <a:ln/>
        </p:spPr>
        <p:txBody>
          <a:bodyPr/>
          <a:lstStyle/>
          <a:p>
            <a:endParaRPr lang="en-US"/>
          </a:p>
        </p:txBody>
      </p:sp>
      <p:sp>
        <p:nvSpPr>
          <p:cNvPr id="9" name="Text 7"/>
          <p:cNvSpPr/>
          <p:nvPr/>
        </p:nvSpPr>
        <p:spPr>
          <a:xfrm>
            <a:off x="946785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0"/>
                </a:solidFill>
                <a:latin typeface="Barlow Condensed" pitchFamily="34" charset="0"/>
                <a:ea typeface="Barlow Condensed" pitchFamily="34" charset="-122"/>
                <a:cs typeface="Barlow Condensed" pitchFamily="34" charset="-120"/>
              </a:rPr>
              <a:t>What is — one workflow</a:t>
            </a:r>
            <a:endParaRPr lang="en-US" sz="2850" dirty="0"/>
          </a:p>
        </p:txBody>
      </p:sp>
      <p:sp>
        <p:nvSpPr>
          <p:cNvPr id="10" name="Text 8"/>
          <p:cNvSpPr/>
          <p:nvPr/>
        </p:nvSpPr>
        <p:spPr>
          <a:xfrm>
            <a:off x="9294495" y="3820418"/>
            <a:ext cx="7812405" cy="344805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Report-only by default: the preview lists what would be deleted and deletes nothing. An invalid value fails safe</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An unreachable server is logged, the loop continues, and the run ends Completed with Errors</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Direct, enabled computers only — deliberately non-recursive, so a nested group is never silently expanded into a destructive action</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One code path shared by preview and live run, so the two cannot diverge</a:t>
            </a:r>
            <a:endParaRPr lang="en-US" sz="1950" dirty="0"/>
          </a:p>
        </p:txBody>
      </p:sp>
      <p:pic>
        <p:nvPicPr>
          <p:cNvPr id="11"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1257300" y="4100066"/>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B5D9FD"/>
                </a:solidFill>
                <a:latin typeface="Barlow Condensed" pitchFamily="34" charset="0"/>
                <a:ea typeface="Barlow Condensed" pitchFamily="34" charset="-122"/>
                <a:cs typeface="Barlow Condensed" pitchFamily="34" charset="-120"/>
              </a:rPr>
              <a:t>PROJECT 06</a:t>
            </a:r>
            <a:endParaRPr lang="en-US" sz="1650" dirty="0"/>
          </a:p>
        </p:txBody>
      </p:sp>
      <p:sp>
        <p:nvSpPr>
          <p:cNvPr id="3" name="Text 1"/>
          <p:cNvSpPr/>
          <p:nvPr/>
        </p:nvSpPr>
        <p:spPr>
          <a:xfrm>
            <a:off x="1257300" y="4710559"/>
            <a:ext cx="16344900" cy="1066800"/>
          </a:xfrm>
          <a:prstGeom prst="rect">
            <a:avLst/>
          </a:prstGeom>
          <a:noFill/>
          <a:ln/>
        </p:spPr>
        <p:txBody>
          <a:bodyPr wrap="square" lIns="25400" tIns="25400" rIns="25400" bIns="25400" rtlCol="0" anchor="t">
            <a:normAutofit lnSpcReduction="10000"/>
          </a:bodyPr>
          <a:lstStyle/>
          <a:p>
            <a:pPr marL="0" indent="0" algn="l">
              <a:lnSpc>
                <a:spcPct val="93913"/>
              </a:lnSpc>
              <a:buNone/>
            </a:pPr>
            <a:r>
              <a:rPr lang="en-US" sz="7200" b="1" kern="0" spc="-108" dirty="0">
                <a:solidFill>
                  <a:srgbClr val="F2F2F3"/>
                </a:solidFill>
                <a:latin typeface="Barlow Condensed" pitchFamily="34" charset="0"/>
                <a:ea typeface="Barlow Condensed" pitchFamily="34" charset="-122"/>
                <a:cs typeface="Barlow Condensed" pitchFamily="34" charset="-120"/>
              </a:rPr>
              <a:t>Demo — Windows Server Clean Disks</a:t>
            </a:r>
            <a:endParaRPr lang="en-US" sz="7200" dirty="0"/>
          </a:p>
        </p:txBody>
      </p:sp>
      <p:sp>
        <p:nvSpPr>
          <p:cNvPr id="4" name="Shape 2"/>
          <p:cNvSpPr/>
          <p:nvPr/>
        </p:nvSpPr>
        <p:spPr>
          <a:xfrm>
            <a:off x="1257300" y="6177409"/>
            <a:ext cx="14859000" cy="9525"/>
          </a:xfrm>
          <a:prstGeom prst="rect">
            <a:avLst/>
          </a:prstGeom>
          <a:solidFill>
            <a:srgbClr val="F2F2F2">
              <a:alpha val="3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257300" y="876300"/>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416180"/>
                </a:solidFill>
                <a:latin typeface="Barlow Condensed" pitchFamily="34" charset="0"/>
                <a:ea typeface="Barlow Condensed" pitchFamily="34" charset="-122"/>
                <a:cs typeface="Barlow Condensed" pitchFamily="34" charset="-120"/>
              </a:rPr>
              <a:t>PROJECT 07 · MOST DESTRUCTIVE</a:t>
            </a:r>
            <a:endParaRPr lang="en-US" sz="1650" dirty="0"/>
          </a:p>
        </p:txBody>
      </p:sp>
      <p:sp>
        <p:nvSpPr>
          <p:cNvPr id="3" name="Text 1"/>
          <p:cNvSpPr/>
          <p:nvPr/>
        </p:nvSpPr>
        <p:spPr>
          <a:xfrm>
            <a:off x="1257300" y="1429643"/>
            <a:ext cx="15925800" cy="742950"/>
          </a:xfrm>
          <a:prstGeom prst="rect">
            <a:avLst/>
          </a:prstGeom>
          <a:noFill/>
          <a:ln/>
        </p:spPr>
        <p:txBody>
          <a:bodyPr wrap="square" lIns="25400" tIns="25400" rIns="25400" bIns="25400" rtlCol="0" anchor="t">
            <a:normAutofit lnSpcReduction="10000"/>
          </a:bodyPr>
          <a:lstStyle/>
          <a:p>
            <a:pPr marL="0" indent="0" algn="l">
              <a:lnSpc>
                <a:spcPct val="96104"/>
              </a:lnSpc>
              <a:buNone/>
            </a:pPr>
            <a:r>
              <a:rPr lang="en-US" sz="4800" b="1" kern="0" spc="-72" dirty="0">
                <a:solidFill>
                  <a:srgbClr val="1D1F20"/>
                </a:solidFill>
                <a:latin typeface="Barlow Condensed" pitchFamily="34" charset="0"/>
                <a:ea typeface="Barlow Condensed" pitchFamily="34" charset="-122"/>
                <a:cs typeface="Barlow Condensed" pitchFamily="34" charset="-120"/>
              </a:rPr>
              <a:t>Server Reboots</a:t>
            </a:r>
            <a:endParaRPr lang="en-US" sz="4800" dirty="0"/>
          </a:p>
        </p:txBody>
      </p:sp>
      <p:sp>
        <p:nvSpPr>
          <p:cNvPr id="4" name="Shape 2"/>
          <p:cNvSpPr/>
          <p:nvPr/>
        </p:nvSpPr>
        <p:spPr>
          <a:xfrm>
            <a:off x="1257300" y="2420243"/>
            <a:ext cx="15773400" cy="19050"/>
          </a:xfrm>
          <a:prstGeom prst="rect">
            <a:avLst/>
          </a:prstGeom>
          <a:solidFill>
            <a:srgbClr val="5980A6"/>
          </a:solidFill>
          <a:ln/>
        </p:spPr>
        <p:txBody>
          <a:bodyPr/>
          <a:lstStyle/>
          <a:p>
            <a:endParaRPr lang="en-US"/>
          </a:p>
        </p:txBody>
      </p:sp>
      <p:sp>
        <p:nvSpPr>
          <p:cNvPr id="5" name="Shape 3"/>
          <p:cNvSpPr/>
          <p:nvPr/>
        </p:nvSpPr>
        <p:spPr>
          <a:xfrm>
            <a:off x="1257300" y="2896493"/>
            <a:ext cx="7562850" cy="28575"/>
          </a:xfrm>
          <a:prstGeom prst="rect">
            <a:avLst/>
          </a:prstGeom>
          <a:solidFill>
            <a:srgbClr val="1E1E20">
              <a:alpha val="40000"/>
            </a:srgbClr>
          </a:solidFill>
          <a:ln/>
        </p:spPr>
        <p:txBody>
          <a:bodyPr/>
          <a:lstStyle/>
          <a:p>
            <a:endParaRPr lang="en-US"/>
          </a:p>
        </p:txBody>
      </p:sp>
      <p:sp>
        <p:nvSpPr>
          <p:cNvPr id="6" name="Text 4"/>
          <p:cNvSpPr/>
          <p:nvPr/>
        </p:nvSpPr>
        <p:spPr>
          <a:xfrm>
            <a:off x="125730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1">
                    <a:alpha val="55000"/>
                  </a:srgbClr>
                </a:solidFill>
                <a:latin typeface="Barlow Condensed" pitchFamily="34" charset="0"/>
                <a:ea typeface="Barlow Condensed" pitchFamily="34" charset="-122"/>
                <a:cs typeface="Barlow Condensed" pitchFamily="34" charset="-120"/>
              </a:rPr>
              <a:t>What was — the most serious findings</a:t>
            </a:r>
            <a:endParaRPr lang="en-US" sz="2850" dirty="0"/>
          </a:p>
        </p:txBody>
      </p:sp>
      <p:sp>
        <p:nvSpPr>
          <p:cNvPr id="7" name="Text 5"/>
          <p:cNvSpPr/>
          <p:nvPr/>
        </p:nvSpPr>
        <p:spPr>
          <a:xfrm>
            <a:off x="1083945" y="3820418"/>
            <a:ext cx="7812405" cy="38100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Servers force rebooted if pending reboot state could not be determined</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Reboot failures hidden in result</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A code path bug meant the pre-reboot test step never ran, and the server was rebooted anyway</a:t>
            </a:r>
            <a:endParaRPr lang="en-US" sz="1950" dirty="0"/>
          </a:p>
          <a:p>
            <a:pPr marL="342900" indent="-342900" algn="l">
              <a:lnSpc>
                <a:spcPct val="122581"/>
              </a:lnSpc>
              <a:buFont typeface="Arial" panose="020B0604020202020204" pitchFamily="34" charset="0"/>
              <a:buChar char="•"/>
            </a:pPr>
            <a:r>
              <a:rPr lang="en-US" sz="1950" dirty="0">
                <a:solidFill>
                  <a:srgbClr val="1D1F21">
                    <a:alpha val="55000"/>
                  </a:srgbClr>
                </a:solidFill>
                <a:latin typeface="Barlow" pitchFamily="34" charset="0"/>
                <a:ea typeface="Barlow" pitchFamily="34" charset="-122"/>
                <a:cs typeface="Barlow" pitchFamily="34" charset="-120"/>
              </a:rPr>
              <a:t>Unfiltered targeting, no reboot confirmation, and no report of any kind</a:t>
            </a:r>
            <a:endParaRPr lang="en-US" sz="1950" dirty="0"/>
          </a:p>
        </p:txBody>
      </p:sp>
      <p:sp>
        <p:nvSpPr>
          <p:cNvPr id="8" name="Shape 6"/>
          <p:cNvSpPr/>
          <p:nvPr/>
        </p:nvSpPr>
        <p:spPr>
          <a:xfrm>
            <a:off x="9467850" y="2896493"/>
            <a:ext cx="7562850" cy="28575"/>
          </a:xfrm>
          <a:prstGeom prst="rect">
            <a:avLst/>
          </a:prstGeom>
          <a:solidFill>
            <a:srgbClr val="5980A6"/>
          </a:solidFill>
          <a:ln/>
        </p:spPr>
        <p:txBody>
          <a:bodyPr/>
          <a:lstStyle/>
          <a:p>
            <a:endParaRPr lang="en-US"/>
          </a:p>
        </p:txBody>
      </p:sp>
      <p:sp>
        <p:nvSpPr>
          <p:cNvPr id="9" name="Text 7"/>
          <p:cNvSpPr/>
          <p:nvPr/>
        </p:nvSpPr>
        <p:spPr>
          <a:xfrm>
            <a:off x="9467850" y="3134618"/>
            <a:ext cx="7789736"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850" b="1" kern="0" spc="-43" dirty="0">
                <a:solidFill>
                  <a:srgbClr val="1D1F20"/>
                </a:solidFill>
                <a:latin typeface="Barlow Condensed" pitchFamily="34" charset="0"/>
                <a:ea typeface="Barlow Condensed" pitchFamily="34" charset="-122"/>
                <a:cs typeface="Barlow Condensed" pitchFamily="34" charset="-120"/>
              </a:rPr>
              <a:t>What is — one workflow</a:t>
            </a:r>
            <a:endParaRPr lang="en-US" sz="2850" dirty="0"/>
          </a:p>
        </p:txBody>
      </p:sp>
      <p:sp>
        <p:nvSpPr>
          <p:cNvPr id="10" name="Text 8"/>
          <p:cNvSpPr/>
          <p:nvPr/>
        </p:nvSpPr>
        <p:spPr>
          <a:xfrm>
            <a:off x="9294495" y="3820418"/>
            <a:ext cx="7812405" cy="3086100"/>
          </a:xfrm>
          <a:prstGeom prst="rect">
            <a:avLst/>
          </a:prstGeom>
          <a:noFill/>
          <a:ln/>
        </p:spPr>
        <p:txBody>
          <a:bodyPr wrap="square" lIns="25400" tIns="25400" rIns="25400" bIns="25400" rtlCol="0" anchor="t">
            <a:normAutofit/>
          </a:bodyPr>
          <a:lstStyle/>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A server reboots only if it is a direct, enabled member of the group and explicitly reports pending via CBS, Windows Update or SCCM</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Servers whose state cannot be read are skipped, never rebooted</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Every reboot verified back online within a timeout, or reported failed</a:t>
            </a:r>
            <a:endParaRPr lang="en-US" sz="1950" dirty="0"/>
          </a:p>
          <a:p>
            <a:pPr marL="342900" indent="-342900" algn="l">
              <a:lnSpc>
                <a:spcPct val="122581"/>
              </a:lnSpc>
              <a:buFont typeface="Arial" panose="020B0604020202020204" pitchFamily="34" charset="0"/>
              <a:buChar char="•"/>
            </a:pPr>
            <a:r>
              <a:rPr lang="en-US" sz="1950" dirty="0">
                <a:solidFill>
                  <a:srgbClr val="1D1F20"/>
                </a:solidFill>
                <a:latin typeface="Barlow" pitchFamily="34" charset="0"/>
                <a:ea typeface="Barlow" pitchFamily="34" charset="-122"/>
                <a:cs typeface="Barlow" pitchFamily="34" charset="-120"/>
              </a:rPr>
              <a:t>A per-server report, emailed. The reboot action previously produced nothing at all</a:t>
            </a:r>
            <a:endParaRPr lang="en-US" sz="1950" dirty="0"/>
          </a:p>
        </p:txBody>
      </p:sp>
      <p:pic>
        <p:nvPicPr>
          <p:cNvPr id="11"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1257300" y="4100066"/>
            <a:ext cx="17350740"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98" dirty="0">
                <a:solidFill>
                  <a:srgbClr val="B5D9FD"/>
                </a:solidFill>
                <a:latin typeface="Barlow Condensed" pitchFamily="34" charset="0"/>
                <a:ea typeface="Barlow Condensed" pitchFamily="34" charset="-122"/>
                <a:cs typeface="Barlow Condensed" pitchFamily="34" charset="-120"/>
              </a:rPr>
              <a:t>PROJECT 07</a:t>
            </a:r>
            <a:endParaRPr lang="en-US" sz="1650" dirty="0"/>
          </a:p>
        </p:txBody>
      </p:sp>
      <p:sp>
        <p:nvSpPr>
          <p:cNvPr id="3" name="Text 1"/>
          <p:cNvSpPr/>
          <p:nvPr/>
        </p:nvSpPr>
        <p:spPr>
          <a:xfrm>
            <a:off x="1257300" y="4710559"/>
            <a:ext cx="16344900" cy="1066800"/>
          </a:xfrm>
          <a:prstGeom prst="rect">
            <a:avLst/>
          </a:prstGeom>
          <a:noFill/>
          <a:ln/>
        </p:spPr>
        <p:txBody>
          <a:bodyPr wrap="square" lIns="25400" tIns="25400" rIns="25400" bIns="25400" rtlCol="0" anchor="t">
            <a:normAutofit lnSpcReduction="10000"/>
          </a:bodyPr>
          <a:lstStyle/>
          <a:p>
            <a:pPr marL="0" indent="0" algn="l">
              <a:lnSpc>
                <a:spcPct val="93913"/>
              </a:lnSpc>
              <a:buNone/>
            </a:pPr>
            <a:r>
              <a:rPr lang="en-US" sz="7200" b="1" kern="0" spc="-108" dirty="0">
                <a:solidFill>
                  <a:srgbClr val="F2F2F3"/>
                </a:solidFill>
                <a:latin typeface="Barlow Condensed" pitchFamily="34" charset="0"/>
                <a:ea typeface="Barlow Condensed" pitchFamily="34" charset="-122"/>
                <a:cs typeface="Barlow Condensed" pitchFamily="34" charset="-120"/>
              </a:rPr>
              <a:t>Demo — Server Reboots</a:t>
            </a:r>
            <a:endParaRPr lang="en-US" sz="7200" dirty="0"/>
          </a:p>
        </p:txBody>
      </p:sp>
      <p:sp>
        <p:nvSpPr>
          <p:cNvPr id="4" name="Shape 2"/>
          <p:cNvSpPr/>
          <p:nvPr/>
        </p:nvSpPr>
        <p:spPr>
          <a:xfrm>
            <a:off x="1257300" y="6177409"/>
            <a:ext cx="14859000" cy="9525"/>
          </a:xfrm>
          <a:prstGeom prst="rect">
            <a:avLst/>
          </a:prstGeom>
          <a:solidFill>
            <a:srgbClr val="F2F2F2">
              <a:alpha val="3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257300" y="9466957"/>
            <a:ext cx="15773400" cy="3247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5803</Words>
  <Application>Microsoft Office PowerPoint</Application>
  <PresentationFormat>Custom</PresentationFormat>
  <Paragraphs>472</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Barlow</vt:lpstr>
      <vt:lpstr>Barlow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Jeremy Forguson</cp:lastModifiedBy>
  <cp:revision>4</cp:revision>
  <dcterms:created xsi:type="dcterms:W3CDTF">2026-08-06T13:22:04Z</dcterms:created>
  <dcterms:modified xsi:type="dcterms:W3CDTF">2026-08-06T14:03:43Z</dcterms:modified>
</cp:coreProperties>
</file>